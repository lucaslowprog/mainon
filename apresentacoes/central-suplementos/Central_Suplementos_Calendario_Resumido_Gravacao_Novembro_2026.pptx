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Versão resumida, com foco em captação. Todos os conteúdos têm fala e legendas sincronizadas. Layout provisório; aplicar identidade oficial da Central antes de produzir as peças públicas.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Gravar primeiro a fala e depois os apoios. Se a pessoa se sentir mais confortável, pode narrar os trechos de apoio separadamente. Usar a mesma mensagem e um convite por conteúdo. Não colocar o roteiro inteiro na tela de uma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Datas verificadas no calendário de 2026. Os horários dependem dos Insights e da disponibilidade da equipe para responder. Não é necessário publicar todos os dias.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datas de captação são uma sugestão operacional. O conteúdo do produto escolhido na enquete deve ser completado depois do resultado. Na Black Friday, a fala só pode ser gravada com condições comerciais aprovadas.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03/11 — Apresentar a loja</a:t>
            </a:r>
          </a:p>
          <a:p>
            <a:r>
              <a:t>Abertura: “Você já conhece a Central?”</a:t>
            </a:r>
          </a:p>
          <a:p>
            <a:r>
              <a:t>Apoios: Entrada → localização → interior.</a:t>
            </a:r>
          </a:p>
          <a:p>
            <a:r>
              <a:t>A voz continua durante as imagens.</a:t>
            </a:r>
          </a:p>
          <a:p>
            <a:r>
              <a:t>Convite final: “Acompanhe nosso perfil.”</a:t>
            </a:r>
          </a:p>
          <a:p/>
          <a:p>
            <a:r>
              <a:t>05/11 — Conheça a Central</a:t>
            </a:r>
          </a:p>
          <a:p>
            <a:r>
              <a:t>Abertura: Pessoa na entrada convidando para conhecer a loja.</a:t>
            </a:r>
          </a:p>
          <a:p>
            <a:r>
              <a:t>Apoios: Fachada → prateleiras → três closes de produtos.</a:t>
            </a:r>
          </a:p>
          <a:p>
            <a:r>
              <a:t>Convite final: Pessoa volta à câmera: “Acompanhe o perfil.”</a:t>
            </a:r>
          </a:p>
          <a:p/>
          <a:p>
            <a:r>
              <a:t>07/11 — Uma categoria</a:t>
            </a:r>
          </a:p>
          <a:p>
            <a:r>
              <a:t>Abertura: Pessoa ao lado da prateleira apresenta [categoria].</a:t>
            </a:r>
          </a:p>
          <a:p>
            <a:r>
              <a:t>Apoios: Dois ou três produtos. Identificar os nomes durante a fala.</a:t>
            </a:r>
          </a:p>
          <a:p>
            <a:r>
              <a:t>Convite final: Apontar para o link da categoria.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10/11 — Enquete de whey</a:t>
            </a:r>
          </a:p>
          <a:p>
            <a:r>
              <a:t>Abertura: Pessoa apresenta duas ou três marcas disponíveis.</a:t>
            </a:r>
          </a:p>
          <a:p>
            <a:r>
              <a:t>Apoios: Close de cada marca, com nome legível.</a:t>
            </a:r>
          </a:p>
          <a:p>
            <a:r>
              <a:t>Convite final: “Qual você quer conhecer melhor?” + enquete.</a:t>
            </a:r>
          </a:p>
          <a:p/>
          <a:p>
            <a:r>
              <a:t>12/11 — Procurando whey?</a:t>
            </a:r>
          </a:p>
          <a:p>
            <a:r>
              <a:t>Abertura: Pessoa com uma embalagem: “Procurando whey?”</a:t>
            </a:r>
          </a:p>
          <a:p>
            <a:r>
              <a:t>Apoios: Marcas → versão → tamanho → sabor. Narrar os detalhes conferidos.</a:t>
            </a:r>
          </a:p>
          <a:p>
            <a:r>
              <a:t>Convite final: “Veja as opções no site.”</a:t>
            </a:r>
          </a:p>
          <a:p/>
          <a:p>
            <a:r>
              <a:t>14/11 — Escolha da enquete</a:t>
            </a:r>
          </a:p>
          <a:p>
            <a:r>
              <a:t>Abertura: Pessoa conta o resultado real da votação.</a:t>
            </a:r>
          </a:p>
          <a:p>
            <a:r>
              <a:t>Apoios: Produto inteiro → nome → versão, tamanho e sabor.</a:t>
            </a:r>
          </a:p>
          <a:p>
            <a:r>
              <a:t>Convite final: “Confira os detalhes neste link.”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17/11 — Abra as perguntas</a:t>
            </a:r>
          </a:p>
          <a:p>
            <a:r>
              <a:t>Abertura: Pessoa olhando para a câmera, dentro da loja.</a:t>
            </a:r>
          </a:p>
          <a:p>
            <a:r>
              <a:t>Apoios: Gravar o convite em um plano simples. Não precisa trocar de cenário.</a:t>
            </a:r>
          </a:p>
          <a:p>
            <a:r>
              <a:t>Convite final: “O que você quer saber?” + caixa de perguntas.</a:t>
            </a:r>
          </a:p>
          <a:p/>
          <a:p>
            <a:r>
              <a:t>19/11 — Bastidores da loja</a:t>
            </a:r>
          </a:p>
          <a:p>
            <a:r>
              <a:t>Abertura: “Vem ver um pouco da Central por dentro.”</a:t>
            </a:r>
          </a:p>
          <a:p>
            <a:r>
              <a:t>Apoios: Mãos organizando → detalhes das prateleiras. Manter a narração.</a:t>
            </a:r>
          </a:p>
          <a:p>
            <a:r>
              <a:t>Convite final: “Salve para lembrar de visitar.”</a:t>
            </a:r>
          </a:p>
          <a:p/>
          <a:p>
            <a:r>
              <a:t>21/11 — Responda uma dúvida</a:t>
            </a:r>
          </a:p>
          <a:p>
            <a:r>
              <a:t>Abertura: Pessoa apresenta uma dúvida comercial recebida.</a:t>
            </a:r>
          </a:p>
          <a:p>
            <a:r>
              <a:t>Apoios: Responder à câmera. Mostrar um produto se ajudar a explicar.</a:t>
            </a:r>
          </a:p>
          <a:p>
            <a:r>
              <a:t>Convite final: Indicar o WhatsApp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24/11 — Caminho pelo site</a:t>
            </a:r>
          </a:p>
          <a:p>
            <a:r>
              <a:t>Abertura: “Vou mostrar como conhecer as opções no site.”</a:t>
            </a:r>
          </a:p>
          <a:p>
            <a:r>
              <a:t>Apoios: Gravar a tela: categoria → produto → informações. Continuar narrando.</a:t>
            </a:r>
          </a:p>
          <a:p>
            <a:r>
              <a:t>Convite final: Adicionar o link da categoria mostrada.</a:t>
            </a:r>
          </a:p>
          <a:p/>
          <a:p>
            <a:r>
              <a:t>26/11 — Nossos canais</a:t>
            </a:r>
          </a:p>
          <a:p>
            <a:r>
              <a:t>Abertura: “Como você prefere conhecer a Central?”</a:t>
            </a:r>
          </a:p>
          <a:p>
            <a:r>
              <a:t>Apoios: Perfil → site → WhatsApp / loja. Explicar cada caminho com a voz.</a:t>
            </a:r>
          </a:p>
          <a:p>
            <a:r>
              <a:t>Convite final: “Escolha o caminho mais fácil para você.”</a:t>
            </a:r>
          </a:p>
          <a:p/>
          <a:p>
            <a:r>
              <a:t>27/11 — Oferta ou seleção</a:t>
            </a:r>
          </a:p>
          <a:p>
            <a:r>
              <a:t>Abertura: Pessoa apresenta a oferta aprovada ou os itens disponíveis.</a:t>
            </a:r>
          </a:p>
          <a:p>
            <a:r>
              <a:t>Apoios: Closes dos produtos. Falar somente condições comerciais conferidas.</a:t>
            </a:r>
          </a:p>
          <a:p>
            <a:r>
              <a:t>Convite final: Link ou WhatsApp. Sem oferta: não sugerir desconto.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Intercalar a pessoa falando com imagens de produtos e bastidores já gravadas no mês. A votação deve ter as opções Produtos e Bastidores da loja. Não é necessário gravar um vídeo longo de 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Gravar os apoios por mais tempo que o trecho usado. Fazer duas versões da fala e deixar um segundo de margem antes e depois. Evitar movimentos rápidos, zoom digital e música competindo com a voz.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 referência é gravar partes de 6–10 segundos, mas a naturalidade da fala vem primeiro. Conferir links e nomes de produtos antes de publicar. Guardar as perguntas e os resultados das enquetes.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Evitar clientes ou dados de pedidos sem autorização. A fala pode ser adaptada ao jeito natural do apresentador, mantendo a informação correta. Antes de publicar, assistir no celular com som e testar os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1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94360"/>
            <a:ext cx="2907792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19" y="635508"/>
            <a:ext cx="276148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NOVEMBRO 2026  •  GUIA RESUMIDO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4100" b="1">
                <a:solidFill>
                  <a:srgbClr val="FFFFFF"/>
                </a:solidFill>
                <a:latin typeface="DejaVu Sans"/>
              </a:defRPr>
            </a:pPr>
            <a:r>
              <a:t>Central Suplementos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4100" b="1">
                <a:solidFill>
                  <a:srgbClr val="FFFFFF"/>
                </a:solidFill>
                <a:latin typeface="DejaVu Sans"/>
              </a:defRPr>
            </a:pPr>
            <a:r>
              <a:t>Calendário de gravação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3639312"/>
            <a:ext cx="969264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0">
                <a:solidFill>
                  <a:srgbClr val="FFFFFF"/>
                </a:solidFill>
                <a:latin typeface="DejaVu Sans"/>
              </a:defRPr>
            </a:pPr>
            <a:r>
              <a:t>O que falar, quando aparecer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2300" b="0">
                <a:solidFill>
                  <a:srgbClr val="FFFFFF"/>
                </a:solidFill>
                <a:latin typeface="DejaVu Sans"/>
              </a:defRPr>
            </a:pPr>
            <a:r>
              <a:t>e quais imagens captar em cada conteúdo.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166360"/>
            <a:ext cx="32918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3300" b="1">
                <a:solidFill>
                  <a:srgbClr val="EABF75"/>
                </a:solidFill>
                <a:latin typeface="DejaVu San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77900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FFFFFF"/>
                </a:solidFill>
                <a:latin typeface="DejaVu Sans"/>
              </a:defRPr>
            </a:pPr>
            <a:r>
              <a:t>conteúdos falados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5166360"/>
            <a:ext cx="32918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3300" b="1">
                <a:solidFill>
                  <a:srgbClr val="EABF75"/>
                </a:solidFill>
                <a:latin typeface="DejaVu Sans"/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577900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FFFFFF"/>
                </a:solidFill>
                <a:latin typeface="DejaVu Sans"/>
              </a:defRPr>
            </a:pPr>
            <a:r>
              <a:t>sequências de Stories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2752" y="5166360"/>
            <a:ext cx="32918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3300" b="1">
                <a:solidFill>
                  <a:srgbClr val="EABF75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577900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FFFFFF"/>
                </a:solidFill>
                <a:latin typeface="DejaVu Sans"/>
              </a:defRPr>
            </a:pPr>
            <a:r>
              <a:t>Reels com legenda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O formato: a pessoa fala, a imagem acompanha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A pessoa pode aparecer na abertura e no fechamento. A narração continua durante os cortes.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611880" cy="3127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240280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16313A"/>
                </a:solidFill>
                <a:latin typeface="DejaVu Sans"/>
              </a:defRPr>
            </a:pPr>
            <a:r>
              <a:t>01 · PESSOA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218688"/>
            <a:ext cx="3154680" cy="1307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000" b="0">
                <a:solidFill>
                  <a:srgbClr val="566E74"/>
                </a:solidFill>
                <a:latin typeface="DejaVu Sans"/>
              </a:defRPr>
            </a:pPr>
            <a:r>
              <a:t>Olhar para a câmera e abrir o assunto em uma frase.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20240"/>
            <a:ext cx="3611880" cy="3127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240280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16313A"/>
                </a:solidFill>
                <a:latin typeface="DejaVu Sans"/>
              </a:defRPr>
            </a:pPr>
            <a:r>
              <a:t>02 · IMAGENS DE APOIO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3218688"/>
            <a:ext cx="3154680" cy="1307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000" b="0">
                <a:solidFill>
                  <a:srgbClr val="566E74"/>
                </a:solidFill>
                <a:latin typeface="DejaVu Sans"/>
              </a:defRPr>
            </a:pPr>
            <a:r>
              <a:t>Mostrar loja, produtos ou site enquanto a pessoa continua narrando.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920240"/>
            <a:ext cx="3611880" cy="3127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2240280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000" b="1">
                <a:solidFill>
                  <a:srgbClr val="16313A"/>
                </a:solidFill>
                <a:latin typeface="DejaVu Sans"/>
              </a:defRPr>
            </a:pPr>
            <a:r>
              <a:t>03 · CONVITE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3218688"/>
            <a:ext cx="3154680" cy="1307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000" b="0">
                <a:solidFill>
                  <a:srgbClr val="566E74"/>
                </a:solidFill>
                <a:latin typeface="DejaVu Sans"/>
              </a:defRPr>
            </a:pPr>
            <a:r>
              <a:t>Encerrar com um próximo passo: seguir, votar, visitar ou entrar em contato.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LEGENDAS: frases curtas, até duas linhas, sincronizadas com a voz. Destacar palavras importantes sem cobrir rosto ou produto.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Calendário de publicações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13 publicações em novembro de 2026 • Todos os conteúdos são falados e legendados.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37943"/>
            <a:ext cx="544068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11095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03/11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915667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1906524"/>
            <a:ext cx="33375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1">
                <a:solidFill>
                  <a:srgbClr val="16313A"/>
                </a:solidFill>
                <a:latin typeface="DejaVu Sans"/>
              </a:defRPr>
            </a:pPr>
            <a:r>
              <a:t>Apresentar a loja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340863"/>
            <a:ext cx="544068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414015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05/11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2418587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Reel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2409444"/>
            <a:ext cx="33375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1">
                <a:solidFill>
                  <a:srgbClr val="16313A"/>
                </a:solidFill>
                <a:latin typeface="DejaVu Sans"/>
              </a:defRPr>
            </a:pPr>
            <a:r>
              <a:t>Conheça a Central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843784"/>
            <a:ext cx="544068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916936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07/11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29215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3472" y="2912364"/>
            <a:ext cx="33375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1">
                <a:solidFill>
                  <a:srgbClr val="16313A"/>
                </a:solidFill>
                <a:latin typeface="DejaVu Sans"/>
              </a:defRPr>
            </a:pPr>
            <a:r>
              <a:t>Uma categoria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346704"/>
            <a:ext cx="544068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419856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10/11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342442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33472" y="3415284"/>
            <a:ext cx="33375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1">
                <a:solidFill>
                  <a:srgbClr val="16313A"/>
                </a:solidFill>
                <a:latin typeface="DejaVu Sans"/>
              </a:defRPr>
            </a:pPr>
            <a:r>
              <a:t>Enquete de whey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49624"/>
            <a:ext cx="544068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922776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12/11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392734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Reel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33472" y="3918204"/>
            <a:ext cx="33375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1">
                <a:solidFill>
                  <a:srgbClr val="16313A"/>
                </a:solidFill>
                <a:latin typeface="DejaVu Sans"/>
              </a:defRPr>
            </a:pPr>
            <a:r>
              <a:t>Procurando whey?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352544"/>
            <a:ext cx="544068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425696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14/11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443026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33472" y="4421124"/>
            <a:ext cx="33375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1">
                <a:solidFill>
                  <a:srgbClr val="16313A"/>
                </a:solidFill>
                <a:latin typeface="DejaVu Sans"/>
              </a:defRPr>
            </a:pPr>
            <a:r>
              <a:t>Escolha da enquete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855464"/>
            <a:ext cx="544068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4928616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17/11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64208" y="493318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33472" y="4924044"/>
            <a:ext cx="33375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1">
                <a:solidFill>
                  <a:srgbClr val="16313A"/>
                </a:solidFill>
                <a:latin typeface="DejaVu Sans"/>
              </a:defRPr>
            </a:pPr>
            <a:r>
              <a:t>Abra as perguntas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4224" y="1837943"/>
            <a:ext cx="544068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2" y="1911095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19/11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70064" y="1915667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Reel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8" y="1906524"/>
            <a:ext cx="33375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1">
                <a:solidFill>
                  <a:srgbClr val="16313A"/>
                </a:solidFill>
                <a:latin typeface="DejaVu Sans"/>
              </a:defRPr>
            </a:pPr>
            <a:r>
              <a:t>Bastidores da loja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64224" y="2340863"/>
            <a:ext cx="544068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3952" y="2414015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21/11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70064" y="2418587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8" y="2409444"/>
            <a:ext cx="33375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1">
                <a:solidFill>
                  <a:srgbClr val="16313A"/>
                </a:solidFill>
                <a:latin typeface="DejaVu Sans"/>
              </a:defRPr>
            </a:pPr>
            <a:r>
              <a:t>Responda uma dúvida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64224" y="2843784"/>
            <a:ext cx="544068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3952" y="2916936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24/11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0064" y="292150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9328" y="2912364"/>
            <a:ext cx="33375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1">
                <a:solidFill>
                  <a:srgbClr val="16313A"/>
                </a:solidFill>
                <a:latin typeface="DejaVu Sans"/>
              </a:defRPr>
            </a:pPr>
            <a:r>
              <a:t>Caminho pelo site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64224" y="3346704"/>
            <a:ext cx="544068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3952" y="3419856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26/11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70064" y="342442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Reel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9328" y="3415284"/>
            <a:ext cx="33375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1">
                <a:solidFill>
                  <a:srgbClr val="16313A"/>
                </a:solidFill>
                <a:latin typeface="DejaVu Sans"/>
              </a:defRPr>
            </a:pPr>
            <a:r>
              <a:t>Nossos canais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64224" y="3849624"/>
            <a:ext cx="544068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73952" y="3922776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27/11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70064" y="392734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39328" y="3918204"/>
            <a:ext cx="33375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1">
                <a:solidFill>
                  <a:srgbClr val="16313A"/>
                </a:solidFill>
                <a:latin typeface="DejaVu Sans"/>
              </a:defRPr>
            </a:pPr>
            <a:r>
              <a:t>Oferta ou seleção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64224" y="4352544"/>
            <a:ext cx="544068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73952" y="4425696"/>
            <a:ext cx="868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1">
                <a:solidFill>
                  <a:srgbClr val="087F83"/>
                </a:solidFill>
                <a:latin typeface="DejaVu Sans"/>
              </a:defRPr>
            </a:pPr>
            <a:r>
              <a:t>30/11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70064" y="443026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0">
                <a:solidFill>
                  <a:srgbClr val="566E74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39328" y="4421124"/>
            <a:ext cx="33375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1">
                <a:solidFill>
                  <a:srgbClr val="16313A"/>
                </a:solidFill>
                <a:latin typeface="DejaVu Sans"/>
              </a:defRPr>
            </a:pPr>
            <a:r>
              <a:t>Escolher dezembro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Terças e sábados: Stories. Quintas: Reels. Exceções: 27/11 (sexta) e 30/11 (segunda).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Grave em quatro encontros, não todos os dias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Separar um momento da semana para gravar as falas e captar os apoios em lote.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47088"/>
            <a:ext cx="544068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7" y="2002536"/>
            <a:ext cx="804672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399" y="2043684"/>
            <a:ext cx="6583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02/11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2020824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LOJA E LOCALIZAÇÃO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560320"/>
            <a:ext cx="50292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566E74"/>
                </a:solidFill>
                <a:latin typeface="DejaVu Sans"/>
              </a:defRPr>
            </a:pPr>
            <a:r>
              <a:t>Entrada, interior, três closes de produtos e apresentação de uma categoria.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1847088"/>
            <a:ext cx="544068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28816" y="2002536"/>
            <a:ext cx="804672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043684"/>
            <a:ext cx="6583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09/11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4656" y="2020824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WHEY E PRODUTOS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560320"/>
            <a:ext cx="50292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566E74"/>
                </a:solidFill>
                <a:latin typeface="DejaVu Sans"/>
              </a:defRPr>
            </a:pPr>
            <a:r>
              <a:t>Duas ou três marcas, embalagens e detalhes de versão, tamanho e sabor.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39312"/>
            <a:ext cx="544068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7" y="3794760"/>
            <a:ext cx="804672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399" y="3835908"/>
            <a:ext cx="6583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16/11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3813048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CONVERSA E BASTIDORES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352544"/>
            <a:ext cx="50292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566E74"/>
                </a:solidFill>
                <a:latin typeface="DejaVu Sans"/>
              </a:defRPr>
            </a:pPr>
            <a:r>
              <a:t>Convite para perguntas, organização da loja e uma resposta comercial.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45936" y="3639312"/>
            <a:ext cx="544068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28816" y="3794760"/>
            <a:ext cx="804672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3835908"/>
            <a:ext cx="6583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23/11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3813048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1">
                <a:solidFill>
                  <a:srgbClr val="16313A"/>
                </a:solidFill>
                <a:latin typeface="DejaVu Sans"/>
              </a:defRPr>
            </a:pPr>
            <a:r>
              <a:t>CANAIS E FECHAMENTO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4352544"/>
            <a:ext cx="50292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566E74"/>
                </a:solidFill>
                <a:latin typeface="DejaVu Sans"/>
              </a:defRPr>
            </a:pPr>
            <a:r>
              <a:t>Site, WhatsApp, visita à loja e convite para escolher os temas de dezembro.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02/11 é feriado: confirmar abertura. Se necessário, captar no dia 3 antes dos Stories. Confirmar produtos novamente ao publicar.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Semana 1 · Faça a pessoa conhecer a loja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Use cada cartão como uma ficha curta de gravação. Legendar a fala realmente gravada.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611880" cy="3767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" y="2057400"/>
            <a:ext cx="822960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3" y="2098548"/>
            <a:ext cx="67665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03/11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2093976"/>
            <a:ext cx="224942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624328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313A"/>
                </a:solidFill>
                <a:latin typeface="DejaVu Sans"/>
              </a:defRPr>
            </a:pPr>
            <a:r>
              <a:t>Apresentar a loja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355848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COMECE COM A PESSOA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675887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203941"/>
                </a:solidFill>
                <a:latin typeface="DejaVu Sans"/>
              </a:defRPr>
            </a:pPr>
            <a:r>
              <a:t>“Você já conhece a Central?”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416552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GRAVE OS APOIOS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700016"/>
            <a:ext cx="3255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Entrada → localização → interior.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A voz continua durante as imagens.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874519"/>
            <a:ext cx="3611880" cy="3767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9432" y="2057400"/>
            <a:ext cx="822960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4" y="2098548"/>
            <a:ext cx="67665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05/11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2093976"/>
            <a:ext cx="224942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Reel · 15–20s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2624328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313A"/>
                </a:solidFill>
                <a:latin typeface="DejaVu Sans"/>
              </a:defRPr>
            </a:pPr>
            <a:r>
              <a:t>Conheça a Central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3355848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COMECE COM A PESSOA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3675887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203941"/>
                </a:solidFill>
                <a:latin typeface="DejaVu Sans"/>
              </a:defRPr>
            </a:pPr>
            <a:r>
              <a:t>Pessoa na entrada convidando para conhecer a loja.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416552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GRAVE OS APOIOS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700016"/>
            <a:ext cx="3255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Fachada → prateleiras → três closes de produtos.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874519"/>
            <a:ext cx="3611880" cy="3767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94192" y="2057400"/>
            <a:ext cx="822960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67344" y="2098548"/>
            <a:ext cx="67665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07/11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2093976"/>
            <a:ext cx="224942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624328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313A"/>
                </a:solidFill>
                <a:latin typeface="DejaVu Sans"/>
              </a:defRPr>
            </a:pPr>
            <a:r>
              <a:t>Uma categoria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55848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COMECE COM A PESSOA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675887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203941"/>
                </a:solidFill>
                <a:latin typeface="DejaVu Sans"/>
              </a:defRPr>
            </a:pPr>
            <a:r>
              <a:t>Pessoa ao lado da prateleira apresenta [categoria].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416552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GRAVE OS APOIOS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4700016"/>
            <a:ext cx="3255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Dois ou três produtos. Identificar os nomes durante a fala.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CONVITES: seguir o perfil (03 e 05/11) e acessar a categoria apresentada (07/11).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Semana 2 · Mostre os produtos de perto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Use cada cartão como uma ficha curta de gravação. Legendar a fala realmente gravada.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611880" cy="3767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" y="2057400"/>
            <a:ext cx="822960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3" y="2098548"/>
            <a:ext cx="67665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10/11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2093976"/>
            <a:ext cx="224942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624328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313A"/>
                </a:solidFill>
                <a:latin typeface="DejaVu Sans"/>
              </a:defRPr>
            </a:pPr>
            <a:r>
              <a:t>Enquete de whey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355848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COMECE COM A PESSOA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675887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203941"/>
                </a:solidFill>
                <a:latin typeface="DejaVu Sans"/>
              </a:defRPr>
            </a:pPr>
            <a:r>
              <a:t>Pessoa apresenta duas ou três marcas disponíveis.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416552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GRAVE OS APOIOS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700016"/>
            <a:ext cx="3255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Close de cada marca, com nome legível.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874519"/>
            <a:ext cx="3611880" cy="3767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9432" y="2057400"/>
            <a:ext cx="822960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4" y="2098548"/>
            <a:ext cx="67665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12/11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2093976"/>
            <a:ext cx="224942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Reel · 20–25s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2624328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313A"/>
                </a:solidFill>
                <a:latin typeface="DejaVu Sans"/>
              </a:defRPr>
            </a:pPr>
            <a:r>
              <a:t>Procurando whey?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3355848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COMECE COM A PESSOA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3675887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203941"/>
                </a:solidFill>
                <a:latin typeface="DejaVu Sans"/>
              </a:defRPr>
            </a:pPr>
            <a:r>
              <a:t>Pessoa com uma embalagem: “Procurando whey?”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416552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GRAVE OS APOIOS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700016"/>
            <a:ext cx="3255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Marcas → versão → tamanho → sabor. Narrar os detalhes conferidos.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874519"/>
            <a:ext cx="3611880" cy="3767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94192" y="2057400"/>
            <a:ext cx="822960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67344" y="2098548"/>
            <a:ext cx="67665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14/11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2093976"/>
            <a:ext cx="224942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624328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313A"/>
                </a:solidFill>
                <a:latin typeface="DejaVu Sans"/>
              </a:defRPr>
            </a:pPr>
            <a:r>
              <a:t>Escolha da enquete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55848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COMECE COM A PESSOA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675887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203941"/>
                </a:solidFill>
                <a:latin typeface="DejaVu Sans"/>
              </a:defRPr>
            </a:pPr>
            <a:r>
              <a:t>Pessoa conta o resultado real da votação.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416552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GRAVE OS APOIOS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4700016"/>
            <a:ext cx="3255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Produto inteiro → nome → versão, tamanho e sabor.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CONVITES: votar na marca (10/11), explorar a categoria (12/11) e abrir o produto escolhido (14/11).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Semana 3 · Converse e mostre o dia a 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Use cada cartão como uma ficha curta de gravação. Legendar a fala realmente gravada.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611880" cy="3767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" y="2057400"/>
            <a:ext cx="822960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3" y="2098548"/>
            <a:ext cx="67665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17/11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2093976"/>
            <a:ext cx="224942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624328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313A"/>
                </a:solidFill>
                <a:latin typeface="DejaVu Sans"/>
              </a:defRPr>
            </a:pPr>
            <a:r>
              <a:t>Abra as perguntas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355848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COMECE COM A PESSOA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675887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203941"/>
                </a:solidFill>
                <a:latin typeface="DejaVu Sans"/>
              </a:defRPr>
            </a:pPr>
            <a:r>
              <a:t>Pessoa olhando para a câmera, dentro da loja.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416552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GRAVE OS APOIOS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700016"/>
            <a:ext cx="3255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Gravar o convite em um plano simples. Não precisa trocar de cenário.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874519"/>
            <a:ext cx="3611880" cy="3767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9432" y="2057400"/>
            <a:ext cx="822960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4" y="2098548"/>
            <a:ext cx="67665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19/11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2093976"/>
            <a:ext cx="224942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Reel · 15–20s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2624328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313A"/>
                </a:solidFill>
                <a:latin typeface="DejaVu Sans"/>
              </a:defRPr>
            </a:pPr>
            <a:r>
              <a:t>Bastidores da loja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3355848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COMECE COM A PESSOA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3675887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203941"/>
                </a:solidFill>
                <a:latin typeface="DejaVu Sans"/>
              </a:defRPr>
            </a:pPr>
            <a:r>
              <a:t>“Vem ver um pouco da Central por dentro.”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416552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GRAVE OS APOIOS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700016"/>
            <a:ext cx="3255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Mãos organizando → detalhes das prateleiras. Manter a narração.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874519"/>
            <a:ext cx="3611880" cy="3767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94192" y="2057400"/>
            <a:ext cx="822960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67344" y="2098548"/>
            <a:ext cx="67665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21/11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2093976"/>
            <a:ext cx="224942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624328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313A"/>
                </a:solidFill>
                <a:latin typeface="DejaVu Sans"/>
              </a:defRPr>
            </a:pPr>
            <a:r>
              <a:t>Responda uma dúvida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55848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COMECE COM A PESSOA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675887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203941"/>
                </a:solidFill>
                <a:latin typeface="DejaVu Sans"/>
              </a:defRPr>
            </a:pPr>
            <a:r>
              <a:t>Pessoa apresenta uma dúvida comercial recebida.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416552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GRAVE OS APOIOS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4700016"/>
            <a:ext cx="3255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Responder à câmera. Mostrar um produto se ajudar a explicar.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CONVITES: enviar pergunta (17/11), salvar para visitar (19/11) e falar pelo WhatsApp (21/11).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Semana 4 · Facilite o próximo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Use cada cartão como uma ficha curta de gravação. Legendar a fala realmente gravada.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611880" cy="3767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1" y="2057400"/>
            <a:ext cx="822960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3" y="2098548"/>
            <a:ext cx="67665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24/11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2093976"/>
            <a:ext cx="224942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624328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313A"/>
                </a:solidFill>
                <a:latin typeface="DejaVu Sans"/>
              </a:defRPr>
            </a:pPr>
            <a:r>
              <a:t>Caminho pelo 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355848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COMECE COM A PESSOA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675887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203941"/>
                </a:solidFill>
                <a:latin typeface="DejaVu Sans"/>
              </a:defRPr>
            </a:pPr>
            <a:r>
              <a:t>“Vou mostrar como conhecer as opções no site.”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416552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GRAVE OS APOIOS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700016"/>
            <a:ext cx="3255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Gravar a tela: categoria → produto → informações. Continuar narrando.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874519"/>
            <a:ext cx="3611880" cy="3767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9432" y="2057400"/>
            <a:ext cx="822960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4" y="2098548"/>
            <a:ext cx="67665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26/11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2093976"/>
            <a:ext cx="224942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Reel · 20–25s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2624328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313A"/>
                </a:solidFill>
                <a:latin typeface="DejaVu Sans"/>
              </a:defRPr>
            </a:pPr>
            <a:r>
              <a:t>Nossos canais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3355848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COMECE COM A PESSOA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3675887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203941"/>
                </a:solidFill>
                <a:latin typeface="DejaVu Sans"/>
              </a:defRPr>
            </a:pPr>
            <a:r>
              <a:t>“Como você prefere conhecer a Central?”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416552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GRAVE OS APOIOS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700016"/>
            <a:ext cx="3255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Perfil → site → WhatsApp / loja. Explicar cada caminho com a voz.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874519"/>
            <a:ext cx="3611880" cy="3767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94192" y="2057400"/>
            <a:ext cx="822960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67344" y="2098548"/>
            <a:ext cx="676656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27/11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2093976"/>
            <a:ext cx="2249424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Stories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624328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16313A"/>
                </a:solidFill>
                <a:latin typeface="DejaVu Sans"/>
              </a:defRPr>
            </a:pPr>
            <a:r>
              <a:t>Oferta ou seleção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55848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COMECE COM A PESSOA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675887"/>
            <a:ext cx="325526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400" b="0">
                <a:solidFill>
                  <a:srgbClr val="203941"/>
                </a:solidFill>
                <a:latin typeface="DejaVu Sans"/>
              </a:defRPr>
            </a:pPr>
            <a:r>
              <a:t>Pessoa apresenta a oferta aprovada ou os itens disponíveis.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416552"/>
            <a:ext cx="325526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GRAVE OS APOIOS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4700016"/>
            <a:ext cx="3255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Closes dos produtos. Falar somente condições comerciais conferidas.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27/11: promoção somente se aprovada. Sem oferta, apresentar produtos disponíveis sem sugerir desconto.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30/11 · Pergunte o que vem em dezembro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Stories falados • Pessoa na loja + enquete • Duas ou três partes curtas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02536"/>
            <a:ext cx="3602736" cy="3145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2231136"/>
            <a:ext cx="420624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272284"/>
            <a:ext cx="2743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34640"/>
            <a:ext cx="318211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1">
                <a:solidFill>
                  <a:srgbClr val="16313A"/>
                </a:solidFill>
                <a:latin typeface="DejaVu Sans"/>
              </a:defRPr>
            </a:pPr>
            <a:r>
              <a:t>ABRA À CÂMERA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621024"/>
            <a:ext cx="318211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0">
                <a:solidFill>
                  <a:srgbClr val="203941"/>
                </a:solidFill>
                <a:latin typeface="DejaVu Sans"/>
              </a:defRPr>
            </a:pPr>
            <a:r>
              <a:t>“Neste mês, mostramos um pouco da Central por aqui.”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2002536"/>
            <a:ext cx="3602736" cy="3145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54296" y="2231136"/>
            <a:ext cx="420624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272284"/>
            <a:ext cx="2743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2834640"/>
            <a:ext cx="318211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1">
                <a:solidFill>
                  <a:srgbClr val="16313A"/>
                </a:solidFill>
                <a:latin typeface="DejaVu Sans"/>
              </a:defRPr>
            </a:pPr>
            <a:r>
              <a:t>FAÇA A PERGUNTA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3621024"/>
            <a:ext cx="318211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0">
                <a:solidFill>
                  <a:srgbClr val="203941"/>
                </a:solidFill>
                <a:latin typeface="DejaVu Sans"/>
              </a:defRPr>
            </a:pPr>
            <a:r>
              <a:t>“Em dezembro, você quer ver mais produtos ou bastidores da loja?”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7888" y="2002536"/>
            <a:ext cx="3602736" cy="3145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49056" y="2231136"/>
            <a:ext cx="420624" cy="292608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272284"/>
            <a:ext cx="2743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2834640"/>
            <a:ext cx="3182112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1">
                <a:solidFill>
                  <a:srgbClr val="16313A"/>
                </a:solidFill>
                <a:latin typeface="DejaVu Sans"/>
              </a:defRPr>
            </a:pPr>
            <a:r>
              <a:t>CONVIDE A VOTAR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6" y="3621024"/>
            <a:ext cx="318211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0">
                <a:solidFill>
                  <a:srgbClr val="203941"/>
                </a:solidFill>
                <a:latin typeface="DejaVu Sans"/>
              </a:defRPr>
            </a:pPr>
            <a:r>
              <a:t>“Vote na enquete. Sua resposta ajuda a escolher os próximos assuntos.”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Gravar uma fala de cada vez. Manter rosto e legendas livres da enquete. Salvar o resultado para planejar dezembro.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Como gravar um Reel de 15–25 segundos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Quatro tipos de tomada resolvem a maior parte dos roteiros. Os tempos são referências, sem acelerar a voz.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56816"/>
            <a:ext cx="2706624" cy="3483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59" y="2167128"/>
            <a:ext cx="758952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1" y="2208276"/>
            <a:ext cx="612647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3–4s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862072"/>
            <a:ext cx="2377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16313A"/>
                </a:solidFill>
                <a:latin typeface="DejaVu Sans"/>
              </a:defRPr>
            </a:pPr>
            <a:r>
              <a:t>ABERTURA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657600"/>
            <a:ext cx="23774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566E74"/>
                </a:solidFill>
                <a:latin typeface="DejaVu Sans"/>
              </a:defRPr>
            </a:pPr>
            <a:r>
              <a:t>Pessoa olhando para a câmera. Uma pergunta ou convite.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39" y="1956816"/>
            <a:ext cx="2706624" cy="3483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85031" y="2167128"/>
            <a:ext cx="758952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8183" y="2208276"/>
            <a:ext cx="612647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4–6s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1" y="2862072"/>
            <a:ext cx="2377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16313A"/>
                </a:solidFill>
                <a:latin typeface="DejaVu Sans"/>
              </a:defRPr>
            </a:pPr>
            <a:r>
              <a:t>VISÃO GERAL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1" y="3657600"/>
            <a:ext cx="23774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566E74"/>
                </a:solidFill>
                <a:latin typeface="DejaVu Sans"/>
              </a:defRPr>
            </a:pPr>
            <a:r>
              <a:t>Mostrar entrada, prateleira ou categoria. A voz continua.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2512" y="1956816"/>
            <a:ext cx="2706624" cy="3483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47103" y="2167128"/>
            <a:ext cx="758952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0255" y="2208276"/>
            <a:ext cx="612647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5–8s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3" y="2862072"/>
            <a:ext cx="2377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16313A"/>
                </a:solidFill>
                <a:latin typeface="DejaVu Sans"/>
              </a:defRPr>
            </a:pPr>
            <a:r>
              <a:t>DETALHES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3" y="3657600"/>
            <a:ext cx="23774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566E74"/>
                </a:solidFill>
                <a:latin typeface="DejaVu Sans"/>
              </a:defRPr>
            </a:pPr>
            <a:r>
              <a:t>Dois ou três closes dos pontos que estão sendo falados.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44584" y="1956816"/>
            <a:ext cx="2706624" cy="3483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09176" y="2167128"/>
            <a:ext cx="758952" cy="292608"/>
          </a:xfrm>
          <a:prstGeom prst="roundRect">
            <a:avLst>
              <a:gd name="adj" fmla="val 12000"/>
            </a:avLst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82328" y="2208276"/>
            <a:ext cx="612647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FFFFFF"/>
                </a:solidFill>
                <a:latin typeface="DejaVu Sans"/>
              </a:defRPr>
            </a:pPr>
            <a:r>
              <a:t>3–5s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2862072"/>
            <a:ext cx="2377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16313A"/>
                </a:solidFill>
                <a:latin typeface="DejaVu Sans"/>
              </a:defRPr>
            </a:pPr>
            <a:r>
              <a:t>FECHAMENTO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9176" y="3657600"/>
            <a:ext cx="23774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0">
                <a:solidFill>
                  <a:srgbClr val="566E74"/>
                </a:solidFill>
                <a:latin typeface="DejaVu Sans"/>
              </a:defRPr>
            </a:pPr>
            <a:r>
              <a:t>Pessoa volta à câmera ou narra o convite sobre a imagem final.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Capte cada apoio por 5–8 segundos. Na edição, use apenas o trecho necessário e mantenha a narração contínua.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Como gravar Stories sem complicar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Duas ou três partes curtas • Um assunto e um convite por sequência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74519"/>
            <a:ext cx="10771632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57400"/>
            <a:ext cx="27706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100" b="1">
                <a:solidFill>
                  <a:srgbClr val="087F83"/>
                </a:solidFill>
                <a:latin typeface="DejaVu Sans"/>
              </a:defRPr>
            </a:pPr>
            <a:r>
              <a:t>1. APRESENTE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2057400"/>
            <a:ext cx="7351775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0">
                <a:solidFill>
                  <a:srgbClr val="203941"/>
                </a:solidFill>
                <a:latin typeface="DejaVu Sans"/>
              </a:defRPr>
            </a:pPr>
            <a:r>
              <a:t>Comece aparecendo e diga o assunto em uma frase.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063239"/>
            <a:ext cx="10771632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246120"/>
            <a:ext cx="27706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100" b="1">
                <a:solidFill>
                  <a:srgbClr val="087F83"/>
                </a:solidFill>
                <a:latin typeface="DejaVu Sans"/>
              </a:defRPr>
            </a:pPr>
            <a:r>
              <a:t>2. MOSTRE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246120"/>
            <a:ext cx="7351775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0">
                <a:solidFill>
                  <a:srgbClr val="203941"/>
                </a:solidFill>
                <a:latin typeface="DejaVu Sans"/>
              </a:defRPr>
            </a:pPr>
            <a:r>
              <a:t>Aproxime do produto, mostre o local ou grave a tela. Continue explicando.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51960"/>
            <a:ext cx="10771632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434840"/>
            <a:ext cx="27706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100" b="1">
                <a:solidFill>
                  <a:srgbClr val="087F83"/>
                </a:solidFill>
                <a:latin typeface="DejaVu Sans"/>
              </a:defRPr>
            </a:pPr>
            <a:r>
              <a:t>3. CONVIDE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434840"/>
            <a:ext cx="7351775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0">
                <a:solidFill>
                  <a:srgbClr val="203941"/>
                </a:solidFill>
                <a:latin typeface="DejaVu Sans"/>
              </a:defRPr>
            </a:pPr>
            <a:r>
              <a:t>Finalize com enquete, pergunta, link ou WhatsApp, conforme o calendário.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Use frases curtas. O recurso interativo, a legenda e o rosto não devem disputar o mesmo espaço.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000" b="1">
                <a:solidFill>
                  <a:srgbClr val="087F83"/>
                </a:solidFill>
                <a:latin typeface="DejaVu Sans"/>
              </a:defRPr>
            </a:pPr>
            <a:r>
              <a:t>CENTRAL SUPLEMENTOS  /  NOVEMBRO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900" b="1">
                <a:solidFill>
                  <a:srgbClr val="16313A"/>
                </a:solidFill>
                <a:latin typeface="DejaVu Sans"/>
              </a:defRPr>
            </a:pPr>
            <a:r>
              <a:t>Checklist rápido: antes de apertar gravar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300" b="0">
                <a:solidFill>
                  <a:srgbClr val="566E74"/>
                </a:solidFill>
                <a:latin typeface="DejaVu Sans"/>
              </a:defRPr>
            </a:pPr>
            <a:r>
              <a:t>A prioridade é entender a pessoa falando. O restante deve ajudar essa mensagem.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28232"/>
            <a:ext cx="11173968" cy="10972"/>
          </a:xfrm>
          <a:prstGeom prst="rect">
            <a:avLst/>
          </a:prstGeom>
          <a:solidFill>
            <a:srgbClr val="D7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653796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800" b="0">
                <a:solidFill>
                  <a:srgbClr val="566E74"/>
                </a:solidFill>
                <a:latin typeface="DejaVu Sans"/>
              </a:defRPr>
            </a:pPr>
            <a:r>
              <a:t>Plano operacional • Layout de trabalho: aplicar identidade oficial antes de publicar.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413248" cy="978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79"/>
            <a:ext cx="5010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CELULAR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39"/>
            <a:ext cx="501091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203941"/>
                </a:solidFill>
                <a:latin typeface="DejaVu Sans"/>
              </a:defRPr>
            </a:pPr>
            <a:r>
              <a:t>Vertical, lente limpa, câmera firme e luz de frente.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3368" y="1874519"/>
            <a:ext cx="5413248" cy="978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011679"/>
            <a:ext cx="5010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VOZ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377439"/>
            <a:ext cx="501091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203941"/>
                </a:solidFill>
                <a:latin typeface="DejaVu Sans"/>
              </a:defRPr>
            </a:pPr>
            <a:r>
              <a:t>Local silencioso, teste de áudio e música baixa na edição.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35808"/>
            <a:ext cx="5413248" cy="978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72968"/>
            <a:ext cx="5010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FALA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38728"/>
            <a:ext cx="501091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203941"/>
                </a:solidFill>
                <a:latin typeface="DejaVu Sans"/>
              </a:defRPr>
            </a:pPr>
            <a:r>
              <a:t>Uma frase por vez. Fazer duas versões, sem precisar decorar tudo.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3368" y="3035808"/>
            <a:ext cx="5413248" cy="978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3172968"/>
            <a:ext cx="5010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APOIOS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3538728"/>
            <a:ext cx="501091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203941"/>
                </a:solidFill>
                <a:latin typeface="DejaVu Sans"/>
              </a:defRPr>
            </a:pPr>
            <a:r>
              <a:t>Gravar imagens do que está sendo dito, com movimentos lentos.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97096"/>
            <a:ext cx="5413248" cy="978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334256"/>
            <a:ext cx="5010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LEGENDA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700016"/>
            <a:ext cx="501091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203941"/>
                </a:solidFill>
                <a:latin typeface="DejaVu Sans"/>
              </a:defRPr>
            </a:pPr>
            <a:r>
              <a:t>Até duas linhas, sincronizada e revisada antes de publicar.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3368" y="4197096"/>
            <a:ext cx="5413248" cy="978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334256"/>
            <a:ext cx="5010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200" b="1">
                <a:solidFill>
                  <a:srgbClr val="087F83"/>
                </a:solidFill>
                <a:latin typeface="DejaVu Sans"/>
              </a:defRPr>
            </a:pPr>
            <a:r>
              <a:t>INFORMAÇÕES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4700016"/>
            <a:ext cx="5010912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500" b="0">
                <a:solidFill>
                  <a:srgbClr val="203941"/>
                </a:solidFill>
                <a:latin typeface="DejaVu Sans"/>
              </a:defRPr>
            </a:pPr>
            <a:r>
              <a:t>Conferir produtos, disponibilidade, links e condições comerciais.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79592"/>
            <a:ext cx="11082528" cy="365760"/>
          </a:xfrm>
          <a:prstGeom prst="roundRect">
            <a:avLst>
              <a:gd name="adj" fmla="val 12000"/>
            </a:avLst>
          </a:prstGeom>
          <a:solidFill>
            <a:srgbClr val="E3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595274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100" b="1">
                <a:solidFill>
                  <a:srgbClr val="087F83"/>
                </a:solidFill>
                <a:latin typeface="DejaVu Sans"/>
              </a:defRPr>
            </a:pPr>
            <a:r>
              <a:t>Aplicar a identidade oficial da Central. Este guia usa um layout neutro e mantém campos comerciais a confirmar.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Suplementos — Calendário Resumido de Gravação — Novembro 2026</dc:title>
  <dc:subject>13 conteúdos falados e legendados: como gravar cada um</dc:subject>
  <dc:creator>Central Suplementos — planejamento de conteúdo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