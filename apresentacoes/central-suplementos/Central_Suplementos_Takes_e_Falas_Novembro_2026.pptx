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Esta versão substitui instruções genéricas por takes numerados e falas sugeridas. Em 27/11 há duas alternativas para uma única publicação. Não publicar as duas como se fossem ações separadas. Identidade visual do documento provisória.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Fazer duas versões de cada fala e escolher a mais natural. Gravar voz em local silencioso, com celular vertical e luz de frente. O roteiro não deve virar um parágrafo inteiro na tela: dividir a legenda em vários blocos sincronizados.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Take 1 (4–6s)</a:t>
            </a:r>
          </a:p>
          <a:p>
            <a:r>
              <a:t>Imagem: PESSOA NA ENTRADA Olhar para a câmera.</a:t>
            </a:r>
          </a:p>
          <a:p>
            <a:r>
              <a:t>Fala: Oi! Você já conhece a Central Suplementos?</a:t>
            </a:r>
          </a:p>
          <a:p/>
          <a:p>
            <a:r>
              <a:t>Take 2 (5–8s)</a:t>
            </a:r>
          </a:p>
          <a:p>
            <a:r>
              <a:t>Imagem: FACHADA E LOCALIZAÇÃO Mostrar o acesso; continuar narrando.</a:t>
            </a:r>
          </a:p>
          <a:p>
            <a:r>
              <a:t>Fala: A gente fica no Mercado Central. Olha a entrada para você encontrar a loja.</a:t>
            </a:r>
          </a:p>
          <a:p/>
          <a:p>
            <a:r>
              <a:t>Take 3 (5–7s)</a:t>
            </a:r>
          </a:p>
          <a:p>
            <a:r>
              <a:t>Imagem: PESSOA OU INTERIOR Fechar com um convite.</a:t>
            </a:r>
          </a:p>
          <a:p>
            <a:r>
              <a:t>Fala: Acompanhe nosso perfil para conhecer os produtos e os bastidores.</a:t>
            </a:r>
          </a:p>
          <a:p/>
          <a:p>
            <a:r>
              <a:t>Convite e revisão: Adicionar a localização correta. Guardar a sequência no destaque “A loja”.</a:t>
            </a:r>
          </a:p>
          <a:p>
            <a:r>
              <a:t>Gravar os apoios com a mesma orientação vertical. Revisar legendas, nomes de marcas e informações dos produtos. As durações são referências a adaptar à fala real.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Take 1 (0–3s)</a:t>
            </a:r>
          </a:p>
          <a:p>
            <a:r>
              <a:t>Imagem: PESSOA NA ENTRADA Plano médio, celular firme.</a:t>
            </a:r>
          </a:p>
          <a:p>
            <a:r>
              <a:t>Fala: Você já conhece a Central Suplementos?</a:t>
            </a:r>
          </a:p>
          <a:p/>
          <a:p>
            <a:r>
              <a:t>Take 2 (3–7s)</a:t>
            </a:r>
          </a:p>
          <a:p>
            <a:r>
              <a:t>Imagem: FACHADA E INTERIOR A voz continua sobre as imagens.</a:t>
            </a:r>
          </a:p>
          <a:p>
            <a:r>
              <a:t>Fala: A gente fica no Mercado Central.</a:t>
            </a:r>
          </a:p>
          <a:p/>
          <a:p>
            <a:r>
              <a:t>Take 3 (7–12s)</a:t>
            </a:r>
          </a:p>
          <a:p>
            <a:r>
              <a:t>Imagem: TRÊS CLOSES DE PRODUTOS Mostrar uma opção por vez.</a:t>
            </a:r>
          </a:p>
          <a:p>
            <a:r>
              <a:t>Fala: Olha algumas opções disponíveis por aqui.</a:t>
            </a:r>
          </a:p>
          <a:p/>
          <a:p>
            <a:r>
              <a:t>Take 4 (12–15s)</a:t>
            </a:r>
          </a:p>
          <a:p>
            <a:r>
              <a:t>Imagem: PESSOA À CÂMERA Encerrar olhando para quem assiste.</a:t>
            </a:r>
          </a:p>
          <a:p>
            <a:r>
              <a:t>Fala: Acompanhe o perfil e conheça a loja.</a:t>
            </a:r>
          </a:p>
          <a:p/>
          <a:p>
            <a:r>
              <a:t>Convite e revisão: Gravar os três closes por 5–8s cada; na edição, usar apenas os trechos necessários.</a:t>
            </a:r>
          </a:p>
          <a:p>
            <a:r>
              <a:t>Gravar os apoios com a mesma orientação vertical. Revisar legendas, nomes de marcas e informações dos produtos. As durações são referências a adaptar à fala real.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Take 1 (5–7s)</a:t>
            </a:r>
          </a:p>
          <a:p>
            <a:r>
              <a:t>Imagem: PESSOA AO LADO DA PRATELEIRA Escolher uma categoria real.</a:t>
            </a:r>
          </a:p>
          <a:p>
            <a:r>
              <a:t>Fala: Hoje vou mostrar algumas opções de [categoria] disponíveis na Central.</a:t>
            </a:r>
          </a:p>
          <a:p/>
          <a:p>
            <a:r>
              <a:t>Take 2 (5–8s)</a:t>
            </a:r>
          </a:p>
          <a:p>
            <a:r>
              <a:t>Imagem: DOIS OU TRÊS PRODUTOS Mostrar e identificar cada um.</a:t>
            </a:r>
          </a:p>
          <a:p>
            <a:r>
              <a:t>Fala: Estas são [opção A], [opção B] e [opção C]. Olha os detalhes de cada uma.</a:t>
            </a:r>
          </a:p>
          <a:p/>
          <a:p>
            <a:r>
              <a:t>Take 3 (5–7s)</a:t>
            </a:r>
          </a:p>
          <a:p>
            <a:r>
              <a:t>Imagem: PESSOA OU PRODUTO Indicar o link na tela.</a:t>
            </a:r>
          </a:p>
          <a:p>
            <a:r>
              <a:t>Fala: Quer conhecer mais? Toque no link e explore a categoria no site.</a:t>
            </a:r>
          </a:p>
          <a:p/>
          <a:p>
            <a:r>
              <a:t>Convite e revisão: Adicionar link direto para a categoria mostrada e confirmar os itens disponíveis.</a:t>
            </a:r>
          </a:p>
          <a:p>
            <a:r>
              <a:t>Gravar os apoios com a mesma orientação vertical. Revisar legendas, nomes de marcas e informações dos produtos. As durações são referências a adaptar à fala real.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Take 1 (4–6s)</a:t>
            </a:r>
          </a:p>
          <a:p>
            <a:r>
              <a:t>Imagem: PESSOA COM OS PRODUTOS Mostrar duas ou três marcas.</a:t>
            </a:r>
          </a:p>
          <a:p>
            <a:r>
              <a:t>Fala: Temos estas opções de whey disponíveis na loja.</a:t>
            </a:r>
          </a:p>
          <a:p/>
          <a:p>
            <a:r>
              <a:t>Take 2 (5–7s)</a:t>
            </a:r>
          </a:p>
          <a:p>
            <a:r>
              <a:t>Imagem: CLOSES COM NARRAÇÃO Apresentar os nomes reais.</a:t>
            </a:r>
          </a:p>
          <a:p>
            <a:r>
              <a:t>Fala: Estas são [marca A], [marca B] e [marca C]. Qual você quer conhecer melhor?</a:t>
            </a:r>
          </a:p>
          <a:p/>
          <a:p>
            <a:r>
              <a:t>Take 3 (4–6s)</a:t>
            </a:r>
          </a:p>
          <a:p>
            <a:r>
              <a:t>Imagem: PESSOA + ENQUETE Deixar o recurso livre na tela.</a:t>
            </a:r>
          </a:p>
          <a:p>
            <a:r>
              <a:t>Fala: Vote aqui na enquete. No sábado, vou mostrar os detalhes da escolhida.</a:t>
            </a:r>
          </a:p>
          <a:p/>
          <a:p>
            <a:r>
              <a:t>Convite e revisão: Usar opções reais na enquete. Salvar o resultado antes de os Stories expirarem.</a:t>
            </a:r>
          </a:p>
          <a:p>
            <a:r>
              <a:t>Gravar os apoios com a mesma orientação vertical. Revisar legendas, nomes de marcas e informações dos produtos. As durações são referências a adaptar à fala real.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Take 1 (0–4s)</a:t>
            </a:r>
          </a:p>
          <a:p>
            <a:r>
              <a:t>Imagem: PESSOA COM UMA EMBALAGEM Abrir com a pergunta.</a:t>
            </a:r>
          </a:p>
          <a:p>
            <a:r>
              <a:t>Fala: Procurando whey? Vem conhecer algumas opções da Central.</a:t>
            </a:r>
          </a:p>
          <a:p/>
          <a:p>
            <a:r>
              <a:t>Take 2 (4–9s)</a:t>
            </a:r>
          </a:p>
          <a:p>
            <a:r>
              <a:t>Imagem: MARCAS NA PRATELEIRA Manter a voz nos cortes.</a:t>
            </a:r>
          </a:p>
          <a:p>
            <a:r>
              <a:t>Fala: Estas são algumas das marcas disponíveis na loja.</a:t>
            </a:r>
          </a:p>
          <a:p/>
          <a:p>
            <a:r>
              <a:t>Take 3 (9–15s)</a:t>
            </a:r>
          </a:p>
          <a:p>
            <a:r>
              <a:t>Imagem: DETALHES DA EMBALAGEM Apontar cada informação mencionada.</a:t>
            </a:r>
          </a:p>
          <a:p>
            <a:r>
              <a:t>Fala: Confira a versão, o tamanho e o sabor de cada produto.</a:t>
            </a:r>
          </a:p>
          <a:p/>
          <a:p>
            <a:r>
              <a:t>Take 4 (15–20s)</a:t>
            </a:r>
          </a:p>
          <a:p>
            <a:r>
              <a:t>Imagem: PESSOA OU SITE Fechar com orientação.</a:t>
            </a:r>
          </a:p>
          <a:p>
            <a:r>
              <a:t>Fala: Veja os detalhes na categoria de whey do nosso site.</a:t>
            </a:r>
          </a:p>
          <a:p/>
          <a:p>
            <a:r>
              <a:t>Convite e revisão: Conferir os dados na embalagem ou no cadastro. Indicar o caminho pelo link do perfil.</a:t>
            </a:r>
          </a:p>
          <a:p>
            <a:r>
              <a:t>Gravar os apoios com a mesma orientação vertical. Revisar legendas, nomes de marcas e informações dos produtos. As durações são referências a adaptar à fala real.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Take 1 (4–6s)</a:t>
            </a:r>
          </a:p>
          <a:p>
            <a:r>
              <a:t>Imagem: PESSOA + RESULTADO REAL Apresentar o que foi votado.</a:t>
            </a:r>
          </a:p>
          <a:p>
            <a:r>
              <a:t>Fala: Na enquete, vocês escolheram conhecer melhor [produto].</a:t>
            </a:r>
          </a:p>
          <a:p/>
          <a:p>
            <a:r>
              <a:t>Take 2 (6–9s)</a:t>
            </a:r>
          </a:p>
          <a:p>
            <a:r>
              <a:t>Imagem: PRODUTO INTEIRO E CLOSES Narrar os dados conferidos.</a:t>
            </a:r>
          </a:p>
          <a:p>
            <a:r>
              <a:t>Fala: Este é o [nome], na versão [versão], com [tamanho], sabor [sabor].</a:t>
            </a:r>
          </a:p>
          <a:p/>
          <a:p>
            <a:r>
              <a:t>Take 3 (4–6s)</a:t>
            </a:r>
          </a:p>
          <a:p>
            <a:r>
              <a:t>Imagem: PESSOA OU DETALHE DO PRODUTO Adicionar o link.</a:t>
            </a:r>
          </a:p>
          <a:p>
            <a:r>
              <a:t>Fala: Quer conferir os detalhes? Deixei o link do produto aqui.</a:t>
            </a:r>
          </a:p>
          <a:p/>
          <a:p>
            <a:r>
              <a:t>Convite e revisão: Sem votos, trocar a abertura por: “Hoje escolhemos uma opção disponível para mostrar a você.”</a:t>
            </a:r>
          </a:p>
          <a:p>
            <a:r>
              <a:t>Gravar os apoios com a mesma orientação vertical. Revisar legendas, nomes de marcas e informações dos produtos. As durações são referências a adaptar à fala real.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Take 1 (4–6s)</a:t>
            </a:r>
          </a:p>
          <a:p>
            <a:r>
              <a:t>Imagem: PESSOA DENTRO DA LOJA Falar diretamente com o público.</a:t>
            </a:r>
          </a:p>
          <a:p>
            <a:r>
              <a:t>Fala: Quer conhecer melhor a Central? Hoje eu quero ouvir você.</a:t>
            </a:r>
          </a:p>
          <a:p/>
          <a:p>
            <a:r>
              <a:t>Take 2 (5–7s)</a:t>
            </a:r>
          </a:p>
          <a:p>
            <a:r>
              <a:t>Imagem: PESSOA + CAIXA DE PERGUNTAS Não cobrir o rosto nem a legenda.</a:t>
            </a:r>
          </a:p>
          <a:p>
            <a:r>
              <a:t>Fala: O que você gostaria de saber sobre a loja ou os produtos disponíveis?</a:t>
            </a:r>
          </a:p>
          <a:p/>
          <a:p>
            <a:r>
              <a:t>Take 3 (5–7s)</a:t>
            </a:r>
          </a:p>
          <a:p>
            <a:r>
              <a:t>Imagem: PESSOA OU IMAGENS DA LOJA Dar exemplos para facilitar.</a:t>
            </a:r>
          </a:p>
          <a:p>
            <a:r>
              <a:t>Fala: Pode perguntar sobre localização, atendimento ou como consultar um produto.</a:t>
            </a:r>
          </a:p>
          <a:p/>
          <a:p>
            <a:r>
              <a:t>Convite e revisão: Adicionar a caixa de perguntas e separar as respostas por assunto.</a:t>
            </a:r>
          </a:p>
          <a:p>
            <a:r>
              <a:t>Gravar os apoios com a mesma orientação vertical. Revisar legendas, nomes de marcas e informações dos produtos. As durações são referências a adaptar à fala real.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Take 1 (0–4s)</a:t>
            </a:r>
          </a:p>
          <a:p>
            <a:r>
              <a:t>Imagem: PESSOA CONVIDANDO Plano médio na loja.</a:t>
            </a:r>
          </a:p>
          <a:p>
            <a:r>
              <a:t>Fala: Vem ver um pouco da Central por dentro.</a:t>
            </a:r>
          </a:p>
          <a:p/>
          <a:p>
            <a:r>
              <a:t>Take 2 (4–9s)</a:t>
            </a:r>
          </a:p>
          <a:p>
            <a:r>
              <a:t>Imagem: MÃOS ORGANIZANDO PRODUTOS A pessoa continua narrando.</a:t>
            </a:r>
          </a:p>
          <a:p>
            <a:r>
              <a:t>Fala: Por aqui, a equipe organiza os produtos e as prateleiras.</a:t>
            </a:r>
          </a:p>
          <a:p/>
          <a:p>
            <a:r>
              <a:t>Take 3 (9–14s)</a:t>
            </a:r>
          </a:p>
          <a:p>
            <a:r>
              <a:t>Imagem: DETALHES DO INTERIOR Mostrar dois ou três apoios.</a:t>
            </a:r>
          </a:p>
          <a:p>
            <a:r>
              <a:t>Fala: Assim você conhece um pouco do nosso dia a dia.</a:t>
            </a:r>
          </a:p>
          <a:p/>
          <a:p>
            <a:r>
              <a:t>Take 4 (14–20s)</a:t>
            </a:r>
          </a:p>
          <a:p>
            <a:r>
              <a:t>Imagem: PESSOA À CÂMERA Fechar com o convite.</a:t>
            </a:r>
          </a:p>
          <a:p>
            <a:r>
              <a:t>Fala: Salve para lembrar de visitar a loja na próxima ida ao Mercado Central.</a:t>
            </a:r>
          </a:p>
          <a:p/>
          <a:p>
            <a:r>
              <a:t>Convite e revisão: Evitar clientes, telas de atendimento e informações de pedidos sem autorização.</a:t>
            </a:r>
          </a:p>
          <a:p>
            <a:r>
              <a:t>Gravar os apoios com a mesma orientação vertical. Revisar legendas, nomes de marcas e informações dos produtos. As durações são referências a adaptar à fala real.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Take 1 (4–6s)</a:t>
            </a:r>
          </a:p>
          <a:p>
            <a:r>
              <a:t>Imagem: PESSOA APRESENTA A DÚVIDA Pergunta também pode aparecer na tela.</a:t>
            </a:r>
          </a:p>
          <a:p>
            <a:r>
              <a:t>Fala: Quer saber se temos um produto disponível?</a:t>
            </a:r>
          </a:p>
          <a:p/>
          <a:p>
            <a:r>
              <a:t>Take 2 (5–8s)</a:t>
            </a:r>
          </a:p>
          <a:p>
            <a:r>
              <a:t>Imagem: PESSOA OU PRODUTO COMO EXEMPLO Explicar o que enviar.</a:t>
            </a:r>
          </a:p>
          <a:p>
            <a:r>
              <a:t>Fala: Envie o nome e, se possível, a versão, o tamanho e o sabor que procura.</a:t>
            </a:r>
          </a:p>
          <a:p/>
          <a:p>
            <a:r>
              <a:t>Take 3 (5–7s)</a:t>
            </a:r>
          </a:p>
          <a:p>
            <a:r>
              <a:t>Imagem: PESSOA + WHATSAPP Indicar o botão ou link.</a:t>
            </a:r>
          </a:p>
          <a:p>
            <a:r>
              <a:t>Fala: A equipe confere para você. Fale com a gente pelo WhatsApp, neste link.</a:t>
            </a:r>
          </a:p>
          <a:p/>
          <a:p>
            <a:r>
              <a:t>Convite e revisão: Pode substituir por uma dúvida comercial recebida. Testar o WhatsApp oficial antes de publicar.</a:t>
            </a:r>
          </a:p>
          <a:p>
            <a:r>
              <a:t>Gravar os apoios com a mesma orientação vertical. Revisar legendas, nomes de marcas e informações dos produtos. As durações são referências a adaptar à fala real.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Take 1 (4–6s)</a:t>
            </a:r>
          </a:p>
          <a:p>
            <a:r>
              <a:t>Imagem: PESSOA APRESENTA O SITE Introdução antes de mostrar a tela.</a:t>
            </a:r>
          </a:p>
          <a:p>
            <a:r>
              <a:t>Fala: Quer conhecer as opções no site? Vou mostrar o caminho.</a:t>
            </a:r>
          </a:p>
          <a:p/>
          <a:p>
            <a:r>
              <a:t>Take 2 (6–9s)</a:t>
            </a:r>
          </a:p>
          <a:p>
            <a:r>
              <a:t>Imagem: GRAVAÇÃO DE TELA + NARRAÇÃO Categoria → produto → informações.</a:t>
            </a:r>
          </a:p>
          <a:p>
            <a:r>
              <a:t>Fala: Entre na categoria, abra um produto e confira as informações.</a:t>
            </a:r>
          </a:p>
          <a:p/>
          <a:p>
            <a:r>
              <a:t>Take 3 (5–7s)</a:t>
            </a:r>
          </a:p>
          <a:p>
            <a:r>
              <a:t>Imagem: PESSOA OU TELA DO SITE Fechar e adicionar o link.</a:t>
            </a:r>
          </a:p>
          <a:p>
            <a:r>
              <a:t>Fala: Deixei o link da categoria aqui para você explorar no seu ritmo.</a:t>
            </a:r>
          </a:p>
          <a:p/>
          <a:p>
            <a:r>
              <a:t>Convite e revisão: Gravar sem notificações ou dados pessoais. Usar rolagem lenta e testar o link da categoria.</a:t>
            </a:r>
          </a:p>
          <a:p>
            <a:r>
              <a:t>Gravar os apoios com a mesma orientação vertical. Revisar legendas, nomes de marcas e informações dos produtos. As durações são referências a adaptar à fala real.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Take 1 (0–4s)</a:t>
            </a:r>
          </a:p>
          <a:p>
            <a:r>
              <a:t>Imagem: PESSOA À CÂMERA Abrir com uma pergunta.</a:t>
            </a:r>
          </a:p>
          <a:p>
            <a:r>
              <a:t>Fala: Como você prefere conhecer a Central?</a:t>
            </a:r>
          </a:p>
          <a:p/>
          <a:p>
            <a:r>
              <a:t>Take 2 (4–9s)</a:t>
            </a:r>
          </a:p>
          <a:p>
            <a:r>
              <a:t>Imagem: PERFIL E BASTIDORES A voz continua sobre os apoios.</a:t>
            </a:r>
          </a:p>
          <a:p>
            <a:r>
              <a:t>Fala: No Instagram, você acompanha os produtos e os bastidores.</a:t>
            </a:r>
          </a:p>
          <a:p/>
          <a:p>
            <a:r>
              <a:t>Take 3 (9–14s)</a:t>
            </a:r>
          </a:p>
          <a:p>
            <a:r>
              <a:t>Imagem: GRAVAÇÃO DO SITE Mostrar a categoria e um produto.</a:t>
            </a:r>
          </a:p>
          <a:p>
            <a:r>
              <a:t>Fala: No site, pode explorar as categorias e conferir os detalhes.</a:t>
            </a:r>
          </a:p>
          <a:p/>
          <a:p>
            <a:r>
              <a:t>Take 4 (14–22s)</a:t>
            </a:r>
          </a:p>
          <a:p>
            <a:r>
              <a:t>Imagem: PESSOA NA LOJA Encerrar com os canais oficiais.</a:t>
            </a:r>
          </a:p>
          <a:p>
            <a:r>
              <a:t>Fala: Também dá para falar com a equipe pelo WhatsApp ou visitar a loja.</a:t>
            </a:r>
          </a:p>
          <a:p/>
          <a:p>
            <a:r>
              <a:t>Convite e revisão: Indicar os contatos oficiais. Descrição do post: “Escolha o caminho mais fácil para você.”</a:t>
            </a:r>
          </a:p>
          <a:p>
            <a:r>
              <a:t>Gravar os apoios com a mesma orientação vertical. Revisar legendas, nomes de marcas e informações dos produtos. As durações são referências a adaptar à fala real.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Take 1 (4–6s)</a:t>
            </a:r>
          </a:p>
          <a:p>
            <a:r>
              <a:t>Imagem: PESSOA COM O PRODUTO Somente após aprovação comercial.</a:t>
            </a:r>
          </a:p>
          <a:p>
            <a:r>
              <a:t>Fala: Hoje temos uma condição especial em [produto participante].</a:t>
            </a:r>
          </a:p>
          <a:p/>
          <a:p>
            <a:r>
              <a:t>Take 2 (6–10s)</a:t>
            </a:r>
          </a:p>
          <a:p>
            <a:r>
              <a:t>Imagem: CLOSE DO PRODUTO Nome, apresentação e condição real.</a:t>
            </a:r>
          </a:p>
          <a:p>
            <a:r>
              <a:t>Fala: É o [nome e apresentação], por [valor e condição de pagamento aprovados].</a:t>
            </a:r>
          </a:p>
          <a:p/>
          <a:p>
            <a:r>
              <a:t>Take 3 (6–10s)</a:t>
            </a:r>
          </a:p>
          <a:p>
            <a:r>
              <a:t>Imagem: PESSOA OU PRODUTO + LINK Dizer validade e condições relevantes.</a:t>
            </a:r>
          </a:p>
          <a:p>
            <a:r>
              <a:t>Fala: A condição vale até [data]. [Informar as condições necessárias]. Confira os detalhes pelo link.</a:t>
            </a:r>
          </a:p>
          <a:p/>
          <a:p>
            <a:r>
              <a:t>Convite e revisão: Escolher esta versão somente com preço, pagamento, validade, disponibilidade e condições confirmados.</a:t>
            </a:r>
          </a:p>
          <a:p>
            <a:r>
              <a:t>Gravar os apoios com a mesma orientação vertical. Revisar legendas, nomes de marcas e informações dos produtos. As durações são referências a adaptar à fala real.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Take 1 (5–7s)</a:t>
            </a:r>
          </a:p>
          <a:p>
            <a:r>
              <a:t>Imagem: PESSOA APRESENTA A SELEÇÃO Não sugerir desconto.</a:t>
            </a:r>
          </a:p>
          <a:p>
            <a:r>
              <a:t>Fala: Hoje separei algumas opções disponíveis na Central para mostrar para você.</a:t>
            </a:r>
          </a:p>
          <a:p/>
          <a:p>
            <a:r>
              <a:t>Take 2 (6–9s)</a:t>
            </a:r>
          </a:p>
          <a:p>
            <a:r>
              <a:t>Imagem: DOIS OU TRÊS PRODUTOS Mostrar nomes e detalhes reais.</a:t>
            </a:r>
          </a:p>
          <a:p>
            <a:r>
              <a:t>Fala: Estas são [opção A] e [opção B]. Vou mostrar os detalhes de cada uma.</a:t>
            </a:r>
          </a:p>
          <a:p/>
          <a:p>
            <a:r>
              <a:t>Take 3 (5–8s)</a:t>
            </a:r>
          </a:p>
          <a:p>
            <a:r>
              <a:t>Imagem: PESSOA OU PRODUTOS + CONTATO Encerrar com um próximo passo.</a:t>
            </a:r>
          </a:p>
          <a:p>
            <a:r>
              <a:t>Fala: Quer conferir alguma delas? Veja no site ou fale com a equipe pelo WhatsApp.</a:t>
            </a:r>
          </a:p>
          <a:p/>
          <a:p>
            <a:r>
              <a:t>Convite e revisão: Escolher esta versão se não houver oferta aprovada. Não usar preço riscado ou percentual de desconto.</a:t>
            </a:r>
          </a:p>
          <a:p>
            <a:r>
              <a:t>Gravar os apoios com a mesma orientação vertical. Revisar legendas, nomes de marcas e informações dos produtos. As durações são referências a adaptar à fala real.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Take 1 (4–6s)</a:t>
            </a:r>
          </a:p>
          <a:p>
            <a:r>
              <a:t>Imagem: PESSOA NA LOJA Retomar o mês em uma frase.</a:t>
            </a:r>
          </a:p>
          <a:p>
            <a:r>
              <a:t>Fala: Neste mês, mostramos um pouco da Central por aqui.</a:t>
            </a:r>
          </a:p>
          <a:p/>
          <a:p>
            <a:r>
              <a:t>Take 2 (5–7s)</a:t>
            </a:r>
          </a:p>
          <a:p>
            <a:r>
              <a:t>Imagem: PESSOA + IMAGENS DO MÊS Produtos e bastidores.</a:t>
            </a:r>
          </a:p>
          <a:p>
            <a:r>
              <a:t>Fala: Em dezembro, você quer ver mais produtos ou bastidores da loja?</a:t>
            </a:r>
          </a:p>
          <a:p/>
          <a:p>
            <a:r>
              <a:t>Take 3 (5–7s)</a:t>
            </a:r>
          </a:p>
          <a:p>
            <a:r>
              <a:t>Imagem: PESSOA + ENQUETE Manter o recurso livre na tela.</a:t>
            </a:r>
          </a:p>
          <a:p>
            <a:r>
              <a:t>Fala: Vote na enquete. Sua resposta ajuda a escolher os próximos assuntos.</a:t>
            </a:r>
          </a:p>
          <a:p/>
          <a:p>
            <a:r>
              <a:t>Convite e revisão: Adicionar enquete: “Produtos” / “Bastidores da loja”. Registrar o resultado para planejar dezembro.</a:t>
            </a:r>
          </a:p>
          <a:p>
            <a:r>
              <a:t>Gravar os apoios com a mesma orientação vertical. Revisar legendas, nomes de marcas e informações dos produtos. As durações são referências a adaptar à fala real.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Este guia não contém condições comerciais aprovadas ou dados oficiais de contato. Substituir os campos antes da captação. No dia 14, usar o resultado real da enquete ou o texto alternativo indicado. No dia 27, escolher somente uma versão.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31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76656" y="594360"/>
            <a:ext cx="3099816" cy="292608"/>
          </a:xfrm>
          <a:prstGeom prst="roundRect">
            <a:avLst>
              <a:gd name="adj" fmla="val 12000"/>
            </a:avLst>
          </a:prstGeom>
          <a:solidFill>
            <a:srgbClr val="087F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635508"/>
            <a:ext cx="2953512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000" b="1">
                <a:solidFill>
                  <a:srgbClr val="FFFFFF"/>
                </a:solidFill>
                <a:latin typeface="DejaVu Sans"/>
              </a:defRPr>
            </a:pPr>
            <a:r>
              <a:t>NOVEMBRO 2026  •  GUIA DE GRAVAÇÃO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6656" y="1545336"/>
            <a:ext cx="10789920" cy="14813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4200" b="1">
                <a:solidFill>
                  <a:srgbClr val="FFFFFF"/>
                </a:solidFill>
                <a:latin typeface="DejaVu Sans"/>
              </a:defRPr>
            </a:pPr>
            <a:r>
              <a:t>Central Suplementos</a:t>
            </a:r>
          </a:p>
          <a:p>
            <a:pPr>
              <a:spcBef>
                <a:spcPts val="0"/>
              </a:spcBef>
              <a:spcAft>
                <a:spcPts val="700"/>
              </a:spcAft>
              <a:defRPr sz="4200" b="1">
                <a:solidFill>
                  <a:srgbClr val="FFFFFF"/>
                </a:solidFill>
                <a:latin typeface="DejaVu Sans"/>
              </a:defRPr>
            </a:pPr>
            <a:r>
              <a:t>Takes e falas prontas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3557016"/>
            <a:ext cx="9921240" cy="8503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2300" b="0">
                <a:solidFill>
                  <a:srgbClr val="FFFFFF"/>
                </a:solidFill>
                <a:latin typeface="DejaVu Sans"/>
              </a:defRPr>
            </a:pPr>
            <a:r>
              <a:t>Um roteiro de gravação para cada publicação.</a:t>
            </a:r>
          </a:p>
          <a:p>
            <a:pPr>
              <a:spcBef>
                <a:spcPts val="0"/>
              </a:spcBef>
              <a:spcAft>
                <a:spcPts val="700"/>
              </a:spcAft>
              <a:defRPr sz="2300" b="0">
                <a:solidFill>
                  <a:srgbClr val="FFFFFF"/>
                </a:solidFill>
                <a:latin typeface="DejaVu Sans"/>
              </a:defRPr>
            </a:pPr>
            <a:r>
              <a:t>Quem aparece, o que mostrar e o que dizer.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5166360"/>
            <a:ext cx="3291840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3400" b="1">
                <a:solidFill>
                  <a:srgbClr val="EABF75"/>
                </a:solidFill>
                <a:latin typeface="DejaVu Sans"/>
              </a:defRPr>
            </a:pPr>
            <a:r>
              <a:t>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5769864"/>
            <a:ext cx="32918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500" b="0">
                <a:solidFill>
                  <a:srgbClr val="FFFFFF"/>
                </a:solidFill>
                <a:latin typeface="DejaVu Sans"/>
              </a:defRPr>
            </a:pPr>
            <a:r>
              <a:t>publicações no mês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89704" y="5166360"/>
            <a:ext cx="3291840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3400" b="1">
                <a:solidFill>
                  <a:srgbClr val="EABF75"/>
                </a:solidFill>
                <a:latin typeface="DejaVu Sans"/>
              </a:defRPr>
            </a:pPr>
            <a:r>
              <a:t>3–4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89704" y="5769864"/>
            <a:ext cx="32918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500" b="0">
                <a:solidFill>
                  <a:srgbClr val="FFFFFF"/>
                </a:solidFill>
                <a:latin typeface="DejaVu Sans"/>
              </a:defRPr>
            </a:pPr>
            <a:r>
              <a:t>takes por conteúdo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66175" y="5166360"/>
            <a:ext cx="3291840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3400" b="1">
                <a:solidFill>
                  <a:srgbClr val="EABF75"/>
                </a:solidFill>
                <a:latin typeface="DejaVu Sans"/>
              </a:defRPr>
            </a:pPr>
            <a:r>
              <a:t>100%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66175" y="5769864"/>
            <a:ext cx="32918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500" b="0">
                <a:solidFill>
                  <a:srgbClr val="FFFFFF"/>
                </a:solidFill>
                <a:latin typeface="DejaVu Sans"/>
              </a:defRPr>
            </a:pPr>
            <a:r>
              <a:t>com fala e legendas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000" b="1">
                <a:solidFill>
                  <a:srgbClr val="087F83"/>
                </a:solidFill>
                <a:latin typeface="DejaVu Sans"/>
              </a:defRPr>
            </a:pPr>
            <a:r>
              <a:t>CENTRAL SUPLEMENTOS  /  NOVEMBRO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13232"/>
            <a:ext cx="1106424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2900" b="1">
                <a:solidFill>
                  <a:srgbClr val="16313A"/>
                </a:solidFill>
                <a:latin typeface="DejaVu Sans"/>
              </a:defRPr>
            </a:pPr>
            <a:r>
              <a:t>Como usar as fichas de gravação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128016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300" b="0">
                <a:solidFill>
                  <a:srgbClr val="566E74"/>
                </a:solidFill>
                <a:latin typeface="DejaVu Sans"/>
              </a:defRPr>
            </a:pPr>
            <a:r>
              <a:t>Cada linha é um take. Grave em partes; não é necessário decorar o roteiro inteiro.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428232"/>
            <a:ext cx="11173968" cy="10972"/>
          </a:xfrm>
          <a:prstGeom prst="rect">
            <a:avLst/>
          </a:prstGeom>
          <a:solidFill>
            <a:srgbClr val="D7E2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21207" y="6537960"/>
            <a:ext cx="914400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800" b="0">
                <a:solidFill>
                  <a:srgbClr val="566E74"/>
                </a:solidFill>
                <a:latin typeface="DejaVu Sans"/>
              </a:defRPr>
            </a:pPr>
            <a:r>
              <a:t>Plano operacional • Layout de trabalho: aplicar identidade oficial antes de publicar.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82528" y="6501384"/>
            <a:ext cx="54864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700"/>
              </a:spcAft>
              <a:defRPr sz="1100" b="1">
                <a:solidFill>
                  <a:srgbClr val="087F83"/>
                </a:solidFill>
                <a:latin typeface="DejaVu Sans"/>
              </a:defRPr>
            </a:pPr>
            <a:r>
              <a:t>02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938528"/>
            <a:ext cx="3611880" cy="336499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59536" y="2148840"/>
            <a:ext cx="411480" cy="292608"/>
          </a:xfrm>
          <a:prstGeom prst="roundRect">
            <a:avLst>
              <a:gd name="adj" fmla="val 12000"/>
            </a:avLst>
          </a:prstGeom>
          <a:solidFill>
            <a:srgbClr val="E3E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2688" y="2189988"/>
            <a:ext cx="265176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000" b="1">
                <a:solidFill>
                  <a:srgbClr val="087F83"/>
                </a:solidFill>
                <a:latin typeface="DejaVu Sans"/>
              </a:defRPr>
            </a:pPr>
            <a: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9536" y="2770632"/>
            <a:ext cx="3172968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2000" b="1">
                <a:solidFill>
                  <a:srgbClr val="16313A"/>
                </a:solidFill>
                <a:latin typeface="DejaVu Sans"/>
              </a:defRPr>
            </a:pPr>
            <a:r>
              <a:t>PESSOA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9536" y="3685032"/>
            <a:ext cx="3172968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800" b="0">
                <a:solidFill>
                  <a:srgbClr val="566E74"/>
                </a:solidFill>
                <a:latin typeface="DejaVu Sans"/>
              </a:defRPr>
            </a:pPr>
            <a:r>
              <a:t>Falar olhando para a câmera. Deixar 1 segundo de margem antes e depois.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53128" y="1938528"/>
            <a:ext cx="3611880" cy="336499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654296" y="2148840"/>
            <a:ext cx="411480" cy="292608"/>
          </a:xfrm>
          <a:prstGeom prst="roundRect">
            <a:avLst>
              <a:gd name="adj" fmla="val 12000"/>
            </a:avLst>
          </a:prstGeom>
          <a:solidFill>
            <a:srgbClr val="E3E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27448" y="2189988"/>
            <a:ext cx="265176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000" b="1">
                <a:solidFill>
                  <a:srgbClr val="087F83"/>
                </a:solidFill>
                <a:latin typeface="DejaVu Sans"/>
              </a:defRPr>
            </a:pPr>
            <a: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54296" y="2770632"/>
            <a:ext cx="3172968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2000" b="1">
                <a:solidFill>
                  <a:srgbClr val="16313A"/>
                </a:solidFill>
                <a:latin typeface="DejaVu Sans"/>
              </a:defRPr>
            </a:pPr>
            <a:r>
              <a:t>IMAGENS DE APOIO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54296" y="3685032"/>
            <a:ext cx="3172968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800" b="0">
                <a:solidFill>
                  <a:srgbClr val="566E74"/>
                </a:solidFill>
                <a:latin typeface="DejaVu Sans"/>
              </a:defRPr>
            </a:pPr>
            <a:r>
              <a:t>Gravar por 5–8 segundos. A mesma pessoa continua narrando sobre as imagens.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47888" y="1938528"/>
            <a:ext cx="3611880" cy="336499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449056" y="2148840"/>
            <a:ext cx="411480" cy="292608"/>
          </a:xfrm>
          <a:prstGeom prst="roundRect">
            <a:avLst>
              <a:gd name="adj" fmla="val 12000"/>
            </a:avLst>
          </a:prstGeom>
          <a:solidFill>
            <a:srgbClr val="E3E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522208" y="2189988"/>
            <a:ext cx="265176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000" b="1">
                <a:solidFill>
                  <a:srgbClr val="087F83"/>
                </a:solidFill>
                <a:latin typeface="DejaVu Sans"/>
              </a:defRPr>
            </a:pPr>
            <a: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49056" y="2770632"/>
            <a:ext cx="3172968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2000" b="1">
                <a:solidFill>
                  <a:srgbClr val="16313A"/>
                </a:solidFill>
                <a:latin typeface="DejaVu Sans"/>
              </a:defRPr>
            </a:pPr>
            <a:r>
              <a:t>FALA E LEGENDA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49056" y="3685032"/>
            <a:ext cx="3172968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800" b="0">
                <a:solidFill>
                  <a:srgbClr val="566E74"/>
                </a:solidFill>
                <a:latin typeface="DejaVu Sans"/>
              </a:defRPr>
            </a:pPr>
            <a:r>
              <a:t>Usar o texto como base. Legendar o áudio real em frases curtas, de até duas linhas.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5879592"/>
            <a:ext cx="11082528" cy="365760"/>
          </a:xfrm>
          <a:prstGeom prst="roundRect">
            <a:avLst>
              <a:gd name="adj" fmla="val 12000"/>
            </a:avLst>
          </a:prstGeom>
          <a:solidFill>
            <a:srgbClr val="E3E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94944" y="5952744"/>
            <a:ext cx="1078992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100" b="1">
                <a:solidFill>
                  <a:srgbClr val="087F83"/>
                </a:solidFill>
                <a:latin typeface="DejaVu Sans"/>
              </a:defRPr>
            </a:pPr>
            <a:r>
              <a:t>Os tempos são referências. Fale naturalmente, sem acelerar. Substitua todos os campos entre colchetes antes de gravar.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000" b="1">
                <a:solidFill>
                  <a:srgbClr val="087F83"/>
                </a:solidFill>
                <a:latin typeface="DejaVu Sans"/>
              </a:defRPr>
            </a:pPr>
            <a:r>
              <a:t>CENTRAL SUPLEMENTOS  /  NOVEMBRO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13232"/>
            <a:ext cx="1106424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2900" b="1">
                <a:solidFill>
                  <a:srgbClr val="16313A"/>
                </a:solidFill>
                <a:latin typeface="DejaVu Sans"/>
              </a:defRPr>
            </a:pPr>
            <a:r>
              <a:t>Calendário das 13 publicações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128016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300" b="0">
                <a:solidFill>
                  <a:srgbClr val="566E74"/>
                </a:solidFill>
                <a:latin typeface="DejaVu Sans"/>
              </a:defRPr>
            </a:pPr>
            <a:r>
              <a:t>9 sequências de Stories + 4 Reels • Todos falados e legendados • Novembro de 2026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428232"/>
            <a:ext cx="11173968" cy="10972"/>
          </a:xfrm>
          <a:prstGeom prst="rect">
            <a:avLst/>
          </a:prstGeom>
          <a:solidFill>
            <a:srgbClr val="D7E2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21207" y="6537960"/>
            <a:ext cx="914400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800" b="0">
                <a:solidFill>
                  <a:srgbClr val="566E74"/>
                </a:solidFill>
                <a:latin typeface="DejaVu Sans"/>
              </a:defRPr>
            </a:pPr>
            <a:r>
              <a:t>Plano operacional • Layout de trabalho: aplicar identidade oficial antes de publicar.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82528" y="6501384"/>
            <a:ext cx="54864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700"/>
              </a:spcAft>
              <a:defRPr sz="1100" b="1">
                <a:solidFill>
                  <a:srgbClr val="087F83"/>
                </a:solidFill>
                <a:latin typeface="DejaVu Sans"/>
              </a:defRPr>
            </a:pPr>
            <a:r>
              <a:t>03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847088"/>
            <a:ext cx="5449824" cy="42062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68096" y="1920240"/>
            <a:ext cx="832104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400" b="1">
                <a:solidFill>
                  <a:srgbClr val="087F83"/>
                </a:solidFill>
                <a:latin typeface="DejaVu Sans"/>
              </a:defRPr>
            </a:pPr>
            <a:r>
              <a:t>03/11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55064" y="1929384"/>
            <a:ext cx="8686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200" b="0">
                <a:solidFill>
                  <a:srgbClr val="566E74"/>
                </a:solidFill>
                <a:latin typeface="DejaVu Sans"/>
              </a:defRPr>
            </a:pPr>
            <a:r>
              <a:t>Stories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06039" y="1915668"/>
            <a:ext cx="3364992" cy="2651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200" b="1">
                <a:solidFill>
                  <a:srgbClr val="16313A"/>
                </a:solidFill>
                <a:latin typeface="DejaVu Sans"/>
              </a:defRPr>
            </a:pPr>
            <a:r>
              <a:t>Você já conhece a Central?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2350008"/>
            <a:ext cx="5449824" cy="42062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68096" y="2423160"/>
            <a:ext cx="832104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400" b="1">
                <a:solidFill>
                  <a:srgbClr val="087F83"/>
                </a:solidFill>
                <a:latin typeface="DejaVu Sans"/>
              </a:defRPr>
            </a:pPr>
            <a:r>
              <a:t>05/11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55064" y="2432304"/>
            <a:ext cx="8686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200" b="0">
                <a:solidFill>
                  <a:srgbClr val="566E74"/>
                </a:solidFill>
                <a:latin typeface="DejaVu Sans"/>
              </a:defRPr>
            </a:pPr>
            <a:r>
              <a:t>Reel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06039" y="2418588"/>
            <a:ext cx="3364992" cy="2651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200" b="1">
                <a:solidFill>
                  <a:srgbClr val="16313A"/>
                </a:solidFill>
                <a:latin typeface="DejaVu Sans"/>
              </a:defRPr>
            </a:pPr>
            <a:r>
              <a:t>Vem conhecer a Central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2852928"/>
            <a:ext cx="5449824" cy="42062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8096" y="2926080"/>
            <a:ext cx="832104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400" b="1">
                <a:solidFill>
                  <a:srgbClr val="087F83"/>
                </a:solidFill>
                <a:latin typeface="DejaVu Sans"/>
              </a:defRPr>
            </a:pPr>
            <a:r>
              <a:t>07/11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55064" y="2935224"/>
            <a:ext cx="8686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200" b="0">
                <a:solidFill>
                  <a:srgbClr val="566E74"/>
                </a:solidFill>
                <a:latin typeface="DejaVu Sans"/>
              </a:defRPr>
            </a:pPr>
            <a:r>
              <a:t>Stories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606039" y="2921508"/>
            <a:ext cx="3364992" cy="2651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200" b="1">
                <a:solidFill>
                  <a:srgbClr val="16313A"/>
                </a:solidFill>
                <a:latin typeface="DejaVu Sans"/>
              </a:defRPr>
            </a:pPr>
            <a:r>
              <a:t>Uma categoria por vez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8368" y="3355848"/>
            <a:ext cx="5449824" cy="42062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68096" y="3429000"/>
            <a:ext cx="832104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400" b="1">
                <a:solidFill>
                  <a:srgbClr val="087F83"/>
                </a:solidFill>
                <a:latin typeface="DejaVu Sans"/>
              </a:defRPr>
            </a:pPr>
            <a:r>
              <a:t>10/11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55064" y="3438144"/>
            <a:ext cx="8686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200" b="0">
                <a:solidFill>
                  <a:srgbClr val="566E74"/>
                </a:solidFill>
                <a:latin typeface="DejaVu Sans"/>
              </a:defRPr>
            </a:pPr>
            <a:r>
              <a:t>Stories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606039" y="3424428"/>
            <a:ext cx="3364992" cy="2651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200" b="1">
                <a:solidFill>
                  <a:srgbClr val="16313A"/>
                </a:solidFill>
                <a:latin typeface="DejaVu Sans"/>
              </a:defRPr>
            </a:pPr>
            <a:r>
              <a:t>Qual whey você quer conhecer?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58368" y="3858768"/>
            <a:ext cx="5449824" cy="42062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68096" y="3931920"/>
            <a:ext cx="832104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400" b="1">
                <a:solidFill>
                  <a:srgbClr val="087F83"/>
                </a:solidFill>
                <a:latin typeface="DejaVu Sans"/>
              </a:defRPr>
            </a:pPr>
            <a:r>
              <a:t>12/11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655064" y="3941064"/>
            <a:ext cx="8686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200" b="0">
                <a:solidFill>
                  <a:srgbClr val="566E74"/>
                </a:solidFill>
                <a:latin typeface="DejaVu Sans"/>
              </a:defRPr>
            </a:pPr>
            <a:r>
              <a:t>Reel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606039" y="3927348"/>
            <a:ext cx="3364992" cy="2651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200" b="1">
                <a:solidFill>
                  <a:srgbClr val="16313A"/>
                </a:solidFill>
                <a:latin typeface="DejaVu Sans"/>
              </a:defRPr>
            </a:pPr>
            <a:r>
              <a:t>Procurando whey?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58368" y="4361688"/>
            <a:ext cx="5449824" cy="42062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68096" y="4434840"/>
            <a:ext cx="832104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400" b="1">
                <a:solidFill>
                  <a:srgbClr val="087F83"/>
                </a:solidFill>
                <a:latin typeface="DejaVu Sans"/>
              </a:defRPr>
            </a:pPr>
            <a:r>
              <a:t>14/11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655064" y="4443983"/>
            <a:ext cx="8686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200" b="0">
                <a:solidFill>
                  <a:srgbClr val="566E74"/>
                </a:solidFill>
                <a:latin typeface="DejaVu Sans"/>
              </a:defRPr>
            </a:pPr>
            <a:r>
              <a:t>Stories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606039" y="4430268"/>
            <a:ext cx="3364992" cy="2651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200" b="1">
                <a:solidFill>
                  <a:srgbClr val="16313A"/>
                </a:solidFill>
                <a:latin typeface="DejaVu Sans"/>
              </a:defRPr>
            </a:pPr>
            <a:r>
              <a:t>Mostrar a escolha da enquete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58368" y="4864608"/>
            <a:ext cx="5449824" cy="42062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68096" y="4937760"/>
            <a:ext cx="832104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400" b="1">
                <a:solidFill>
                  <a:srgbClr val="087F83"/>
                </a:solidFill>
                <a:latin typeface="DejaVu Sans"/>
              </a:defRPr>
            </a:pPr>
            <a:r>
              <a:t>17/11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655064" y="4946904"/>
            <a:ext cx="8686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200" b="0">
                <a:solidFill>
                  <a:srgbClr val="566E74"/>
                </a:solidFill>
                <a:latin typeface="DejaVu Sans"/>
              </a:defRPr>
            </a:pPr>
            <a:r>
              <a:t>Stories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606039" y="4933188"/>
            <a:ext cx="3364992" cy="2651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200" b="1">
                <a:solidFill>
                  <a:srgbClr val="16313A"/>
                </a:solidFill>
                <a:latin typeface="DejaVu Sans"/>
              </a:defRPr>
            </a:pPr>
            <a:r>
              <a:t>Abra espaço para perguntas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364224" y="1847088"/>
            <a:ext cx="5449824" cy="42062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73952" y="1920240"/>
            <a:ext cx="832104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400" b="1">
                <a:solidFill>
                  <a:srgbClr val="087F83"/>
                </a:solidFill>
                <a:latin typeface="DejaVu Sans"/>
              </a:defRPr>
            </a:pPr>
            <a:r>
              <a:t>19/11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360920" y="1929384"/>
            <a:ext cx="8686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200" b="0">
                <a:solidFill>
                  <a:srgbClr val="566E74"/>
                </a:solidFill>
                <a:latin typeface="DejaVu Sans"/>
              </a:defRPr>
            </a:pPr>
            <a:r>
              <a:t>Reel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311896" y="1915668"/>
            <a:ext cx="3364992" cy="2651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200" b="1">
                <a:solidFill>
                  <a:srgbClr val="16313A"/>
                </a:solidFill>
                <a:latin typeface="DejaVu Sans"/>
              </a:defRPr>
            </a:pPr>
            <a:r>
              <a:t>Central por dentro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364224" y="2350008"/>
            <a:ext cx="5449824" cy="42062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473952" y="2423160"/>
            <a:ext cx="832104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400" b="1">
                <a:solidFill>
                  <a:srgbClr val="087F83"/>
                </a:solidFill>
                <a:latin typeface="DejaVu Sans"/>
              </a:defRPr>
            </a:pPr>
            <a:r>
              <a:t>21/11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360920" y="2432304"/>
            <a:ext cx="8686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200" b="0">
                <a:solidFill>
                  <a:srgbClr val="566E74"/>
                </a:solidFill>
                <a:latin typeface="DejaVu Sans"/>
              </a:defRPr>
            </a:pPr>
            <a:r>
              <a:t>Stories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311896" y="2418588"/>
            <a:ext cx="3364992" cy="2651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200" b="1">
                <a:solidFill>
                  <a:srgbClr val="16313A"/>
                </a:solidFill>
                <a:latin typeface="DejaVu Sans"/>
              </a:defRPr>
            </a:pPr>
            <a:r>
              <a:t>Como consultar um produto?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364224" y="2852928"/>
            <a:ext cx="5449824" cy="42062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473952" y="2926080"/>
            <a:ext cx="832104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400" b="1">
                <a:solidFill>
                  <a:srgbClr val="087F83"/>
                </a:solidFill>
                <a:latin typeface="DejaVu Sans"/>
              </a:defRPr>
            </a:pPr>
            <a:r>
              <a:t>24/11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360920" y="2935224"/>
            <a:ext cx="8686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200" b="0">
                <a:solidFill>
                  <a:srgbClr val="566E74"/>
                </a:solidFill>
                <a:latin typeface="DejaVu Sans"/>
              </a:defRPr>
            </a:pPr>
            <a:r>
              <a:t>Stories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311896" y="2921508"/>
            <a:ext cx="3364992" cy="2651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200" b="1">
                <a:solidFill>
                  <a:srgbClr val="16313A"/>
                </a:solidFill>
                <a:latin typeface="DejaVu Sans"/>
              </a:defRPr>
            </a:pPr>
            <a:r>
              <a:t>Vou mostrar o caminho no site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6364224" y="3355848"/>
            <a:ext cx="5449824" cy="42062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473952" y="3429000"/>
            <a:ext cx="832104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400" b="1">
                <a:solidFill>
                  <a:srgbClr val="087F83"/>
                </a:solidFill>
                <a:latin typeface="DejaVu Sans"/>
              </a:defRPr>
            </a:pPr>
            <a:r>
              <a:t>26/11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360920" y="3438144"/>
            <a:ext cx="8686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200" b="0">
                <a:solidFill>
                  <a:srgbClr val="566E74"/>
                </a:solidFill>
                <a:latin typeface="DejaVu Sans"/>
              </a:defRPr>
            </a:pPr>
            <a:r>
              <a:t>Reel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311896" y="3424428"/>
            <a:ext cx="3364992" cy="2651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200" b="1">
                <a:solidFill>
                  <a:srgbClr val="16313A"/>
                </a:solidFill>
                <a:latin typeface="DejaVu Sans"/>
              </a:defRPr>
            </a:pPr>
            <a:r>
              <a:t>Nossos canais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6364224" y="3858768"/>
            <a:ext cx="5449824" cy="42062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473952" y="3931920"/>
            <a:ext cx="832104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400" b="1">
                <a:solidFill>
                  <a:srgbClr val="087F83"/>
                </a:solidFill>
                <a:latin typeface="DejaVu Sans"/>
              </a:defRPr>
            </a:pPr>
            <a:r>
              <a:t>27/11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360920" y="3941064"/>
            <a:ext cx="8686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200" b="0">
                <a:solidFill>
                  <a:srgbClr val="566E74"/>
                </a:solidFill>
                <a:latin typeface="DejaVu Sans"/>
              </a:defRPr>
            </a:pPr>
            <a:r>
              <a:t>Stories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311896" y="3927348"/>
            <a:ext cx="3364992" cy="2651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200" b="1">
                <a:solidFill>
                  <a:srgbClr val="16313A"/>
                </a:solidFill>
                <a:latin typeface="DejaVu Sans"/>
              </a:defRPr>
            </a:pPr>
            <a:r>
              <a:t>Oferta OU seleção de produtos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6364224" y="4361688"/>
            <a:ext cx="5449824" cy="42062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473952" y="4434840"/>
            <a:ext cx="832104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400" b="1">
                <a:solidFill>
                  <a:srgbClr val="087F83"/>
                </a:solidFill>
                <a:latin typeface="DejaVu Sans"/>
              </a:defRPr>
            </a:pPr>
            <a:r>
              <a:t>30/11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360920" y="4443983"/>
            <a:ext cx="8686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200" b="0">
                <a:solidFill>
                  <a:srgbClr val="566E74"/>
                </a:solidFill>
                <a:latin typeface="DejaVu Sans"/>
              </a:defRPr>
            </a:pPr>
            <a:r>
              <a:t>Stories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311896" y="4430268"/>
            <a:ext cx="3364992" cy="2651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200" b="1">
                <a:solidFill>
                  <a:srgbClr val="16313A"/>
                </a:solidFill>
                <a:latin typeface="DejaVu Sans"/>
              </a:defRPr>
            </a:pPr>
            <a:r>
              <a:t>O que você quer ver em dezembro?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548640" y="5879592"/>
            <a:ext cx="11082528" cy="365760"/>
          </a:xfrm>
          <a:prstGeom prst="roundRect">
            <a:avLst>
              <a:gd name="adj" fmla="val 12000"/>
            </a:avLst>
          </a:prstGeom>
          <a:solidFill>
            <a:srgbClr val="E3E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694944" y="5952744"/>
            <a:ext cx="1078992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100" b="1">
                <a:solidFill>
                  <a:srgbClr val="087F83"/>
                </a:solidFill>
                <a:latin typeface="DejaVu Sans"/>
              </a:defRPr>
            </a:pPr>
            <a:r>
              <a:t>27/11: gravar somente uma alternativa, conforme a decisão comercial. Conferir estoque e links no dia da postagem.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000" b="1">
                <a:solidFill>
                  <a:srgbClr val="087F83"/>
                </a:solidFill>
                <a:latin typeface="DejaVu Sans"/>
              </a:defRPr>
            </a:pPr>
            <a:r>
              <a:t>CENTRAL SUPLEMENTOS  /  NOVEMBRO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13232"/>
            <a:ext cx="1106424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2900" b="1">
                <a:solidFill>
                  <a:srgbClr val="16313A"/>
                </a:solidFill>
                <a:latin typeface="DejaVu Sans"/>
              </a:defRPr>
            </a:pPr>
            <a:r>
              <a:t>03/11 · Você já conhece a Central?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128016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300" b="0">
                <a:solidFill>
                  <a:srgbClr val="566E74"/>
                </a:solidFill>
                <a:latin typeface="DejaVu Sans"/>
              </a:defRPr>
            </a:pPr>
            <a:r>
              <a:t>Stories · 3 partes  •  Takes numerados + falas sugeridas  •  A pessoa pode adaptar as palavras sem alterar as informações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428232"/>
            <a:ext cx="11173968" cy="10972"/>
          </a:xfrm>
          <a:prstGeom prst="rect">
            <a:avLst/>
          </a:prstGeom>
          <a:solidFill>
            <a:srgbClr val="D7E2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21207" y="6537960"/>
            <a:ext cx="914400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800" b="0">
                <a:solidFill>
                  <a:srgbClr val="566E74"/>
                </a:solidFill>
                <a:latin typeface="DejaVu Sans"/>
              </a:defRPr>
            </a:pPr>
            <a:r>
              <a:t>Plano operacional • Layout de trabalho: aplicar identidade oficial antes de publicar.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82528" y="6501384"/>
            <a:ext cx="54864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700"/>
              </a:spcAft>
              <a:defRPr sz="1100" b="1">
                <a:solidFill>
                  <a:srgbClr val="087F83"/>
                </a:solidFill>
                <a:latin typeface="DejaVu Sans"/>
              </a:defRPr>
            </a:pPr>
            <a:r>
              <a:t>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7512" y="1810512"/>
            <a:ext cx="8229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000" b="1">
                <a:solidFill>
                  <a:srgbClr val="087F83"/>
                </a:solidFill>
                <a:latin typeface="DejaVu Sans"/>
              </a:defRPr>
            </a:pPr>
            <a:r>
              <a:t>TAKE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46504" y="1810512"/>
            <a:ext cx="27889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000" b="1">
                <a:solidFill>
                  <a:srgbClr val="087F83"/>
                </a:solidFill>
                <a:latin typeface="DejaVu Sans"/>
              </a:defRPr>
            </a:pPr>
            <a:r>
              <a:t>O QUE GRAVAR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91456" y="1810512"/>
            <a:ext cx="64922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000" b="1">
                <a:solidFill>
                  <a:srgbClr val="087F83"/>
                </a:solidFill>
                <a:latin typeface="DejaVu Sans"/>
              </a:defRPr>
            </a:pPr>
            <a:r>
              <a:t>FALA SUGERIDA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" y="2194560"/>
            <a:ext cx="10936224" cy="98755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77240" y="2350008"/>
            <a:ext cx="402336" cy="292608"/>
          </a:xfrm>
          <a:prstGeom prst="roundRect">
            <a:avLst>
              <a:gd name="adj" fmla="val 12000"/>
            </a:avLst>
          </a:prstGeom>
          <a:solidFill>
            <a:srgbClr val="087F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0392" y="2391156"/>
            <a:ext cx="256032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000" b="1">
                <a:solidFill>
                  <a:srgbClr val="FFFFFF"/>
                </a:solidFill>
                <a:latin typeface="DejaVu Sans"/>
              </a:defRPr>
            </a:pPr>
            <a:r>
              <a:t>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2788920"/>
            <a:ext cx="8229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100" b="0">
                <a:solidFill>
                  <a:srgbClr val="566E74"/>
                </a:solidFill>
                <a:latin typeface="DejaVu Sans"/>
              </a:defRPr>
            </a:pPr>
            <a:r>
              <a:t>4–6s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46504" y="2331720"/>
            <a:ext cx="2770632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200" b="1">
                <a:solidFill>
                  <a:srgbClr val="16313A"/>
                </a:solidFill>
                <a:latin typeface="DejaVu Sans"/>
              </a:defRPr>
            </a:pPr>
            <a:r>
              <a:t>PESSOA NA ENTRADA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46504" y="2633472"/>
            <a:ext cx="2770632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150" b="0">
                <a:solidFill>
                  <a:srgbClr val="566E74"/>
                </a:solidFill>
                <a:latin typeface="DejaVu Sans"/>
              </a:defRPr>
            </a:pPr>
            <a:r>
              <a:t>Olhar para a câmera.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91456" y="2350008"/>
            <a:ext cx="6473952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700" b="0">
                <a:solidFill>
                  <a:srgbClr val="203941"/>
                </a:solidFill>
                <a:latin typeface="DejaVu Sans"/>
              </a:defRPr>
            </a:pPr>
            <a:r>
              <a:t>“Oi! Você já conhece a Central Suplementos?”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" y="3310128"/>
            <a:ext cx="10936224" cy="98755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777240" y="3465576"/>
            <a:ext cx="402336" cy="292608"/>
          </a:xfrm>
          <a:prstGeom prst="roundRect">
            <a:avLst>
              <a:gd name="adj" fmla="val 12000"/>
            </a:avLst>
          </a:prstGeom>
          <a:solidFill>
            <a:srgbClr val="087F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50392" y="3506724"/>
            <a:ext cx="256032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000" b="1">
                <a:solidFill>
                  <a:srgbClr val="FFFFFF"/>
                </a:solidFill>
                <a:latin typeface="DejaVu Sans"/>
              </a:defRPr>
            </a:pPr>
            <a:r>
              <a:t>02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3904488"/>
            <a:ext cx="8229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100" b="0">
                <a:solidFill>
                  <a:srgbClr val="566E74"/>
                </a:solidFill>
                <a:latin typeface="DejaVu Sans"/>
              </a:defRPr>
            </a:pPr>
            <a:r>
              <a:t>5–8s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746504" y="3447288"/>
            <a:ext cx="2770632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200" b="1">
                <a:solidFill>
                  <a:srgbClr val="16313A"/>
                </a:solidFill>
                <a:latin typeface="DejaVu Sans"/>
              </a:defRPr>
            </a:pPr>
            <a:r>
              <a:t>FACHADA E LOCALIZAÇÃO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746504" y="3749039"/>
            <a:ext cx="2770632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150" b="0">
                <a:solidFill>
                  <a:srgbClr val="566E74"/>
                </a:solidFill>
                <a:latin typeface="DejaVu Sans"/>
              </a:defRPr>
            </a:pPr>
            <a:r>
              <a:t>Mostrar o acesso; continuar narrando.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91456" y="3465576"/>
            <a:ext cx="6473952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700" b="0">
                <a:solidFill>
                  <a:srgbClr val="203941"/>
                </a:solidFill>
                <a:latin typeface="DejaVu Sans"/>
              </a:defRPr>
            </a:pPr>
            <a:r>
              <a:t>“A gente fica no Mercado Central. Olha a entrada para você encontrar a loja.”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1792" y="4425696"/>
            <a:ext cx="10936224" cy="98755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777240" y="4581144"/>
            <a:ext cx="402336" cy="292608"/>
          </a:xfrm>
          <a:prstGeom prst="roundRect">
            <a:avLst>
              <a:gd name="adj" fmla="val 12000"/>
            </a:avLst>
          </a:prstGeom>
          <a:solidFill>
            <a:srgbClr val="087F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50392" y="4622292"/>
            <a:ext cx="256032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000" b="1">
                <a:solidFill>
                  <a:srgbClr val="FFFFFF"/>
                </a:solidFill>
                <a:latin typeface="DejaVu Sans"/>
              </a:defRPr>
            </a:pPr>
            <a:r>
              <a:t>03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7240" y="5020056"/>
            <a:ext cx="8229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100" b="0">
                <a:solidFill>
                  <a:srgbClr val="566E74"/>
                </a:solidFill>
                <a:latin typeface="DejaVu Sans"/>
              </a:defRPr>
            </a:pPr>
            <a:r>
              <a:t>5–7s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746504" y="4562856"/>
            <a:ext cx="2770632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200" b="1">
                <a:solidFill>
                  <a:srgbClr val="16313A"/>
                </a:solidFill>
                <a:latin typeface="DejaVu Sans"/>
              </a:defRPr>
            </a:pPr>
            <a:r>
              <a:t>PESSOA OU INTERIOR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746504" y="4864608"/>
            <a:ext cx="2770632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150" b="0">
                <a:solidFill>
                  <a:srgbClr val="566E74"/>
                </a:solidFill>
                <a:latin typeface="DejaVu Sans"/>
              </a:defRPr>
            </a:pPr>
            <a:r>
              <a:t>Fechar com um convite.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791456" y="4581144"/>
            <a:ext cx="6473952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700" b="0">
                <a:solidFill>
                  <a:srgbClr val="203941"/>
                </a:solidFill>
                <a:latin typeface="DejaVu Sans"/>
              </a:defRPr>
            </a:pPr>
            <a:r>
              <a:t>“Acompanhe nosso perfil para conhecer os produtos e os bastidores.”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48640" y="5879592"/>
            <a:ext cx="11082528" cy="365760"/>
          </a:xfrm>
          <a:prstGeom prst="roundRect">
            <a:avLst>
              <a:gd name="adj" fmla="val 12000"/>
            </a:avLst>
          </a:prstGeom>
          <a:solidFill>
            <a:srgbClr val="E3E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94944" y="5952744"/>
            <a:ext cx="1078992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100" b="1">
                <a:solidFill>
                  <a:srgbClr val="087F83"/>
                </a:solidFill>
                <a:latin typeface="DejaVu Sans"/>
              </a:defRPr>
            </a:pPr>
            <a:r>
              <a:t>Adicionar a localização correta. Guardar a sequência no destaque “A loja”.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000" b="1">
                <a:solidFill>
                  <a:srgbClr val="087F83"/>
                </a:solidFill>
                <a:latin typeface="DejaVu Sans"/>
              </a:defRPr>
            </a:pPr>
            <a:r>
              <a:t>CENTRAL SUPLEMENTOS  /  NOVEMBRO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13232"/>
            <a:ext cx="1106424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2900" b="1">
                <a:solidFill>
                  <a:srgbClr val="16313A"/>
                </a:solidFill>
                <a:latin typeface="DejaVu Sans"/>
              </a:defRPr>
            </a:pPr>
            <a:r>
              <a:t>05/11 · Vem conhecer a Central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128016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300" b="0">
                <a:solidFill>
                  <a:srgbClr val="566E74"/>
                </a:solidFill>
                <a:latin typeface="DejaVu Sans"/>
              </a:defRPr>
            </a:pPr>
            <a:r>
              <a:t>Reel · aprox. 15s  •  Takes numerados + falas sugeridas  •  A pessoa pode adaptar as palavras sem alterar as informações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428232"/>
            <a:ext cx="11173968" cy="10972"/>
          </a:xfrm>
          <a:prstGeom prst="rect">
            <a:avLst/>
          </a:prstGeom>
          <a:solidFill>
            <a:srgbClr val="D7E2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21207" y="6537960"/>
            <a:ext cx="914400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800" b="0">
                <a:solidFill>
                  <a:srgbClr val="566E74"/>
                </a:solidFill>
                <a:latin typeface="DejaVu Sans"/>
              </a:defRPr>
            </a:pPr>
            <a:r>
              <a:t>Plano operacional • Layout de trabalho: aplicar identidade oficial antes de publicar.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82528" y="6501384"/>
            <a:ext cx="54864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700"/>
              </a:spcAft>
              <a:defRPr sz="1100" b="1">
                <a:solidFill>
                  <a:srgbClr val="087F83"/>
                </a:solidFill>
                <a:latin typeface="DejaVu Sans"/>
              </a:defRPr>
            </a:pPr>
            <a:r>
              <a:t>05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7512" y="1810512"/>
            <a:ext cx="8229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000" b="1">
                <a:solidFill>
                  <a:srgbClr val="087F83"/>
                </a:solidFill>
                <a:latin typeface="DejaVu Sans"/>
              </a:defRPr>
            </a:pPr>
            <a:r>
              <a:t>TAKE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46504" y="1810512"/>
            <a:ext cx="27889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000" b="1">
                <a:solidFill>
                  <a:srgbClr val="087F83"/>
                </a:solidFill>
                <a:latin typeface="DejaVu Sans"/>
              </a:defRPr>
            </a:pPr>
            <a:r>
              <a:t>O QUE GRAVAR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91456" y="1810512"/>
            <a:ext cx="64922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000" b="1">
                <a:solidFill>
                  <a:srgbClr val="087F83"/>
                </a:solidFill>
                <a:latin typeface="DejaVu Sans"/>
              </a:defRPr>
            </a:pPr>
            <a:r>
              <a:t>FALA SUGERIDA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" y="2103120"/>
            <a:ext cx="10936224" cy="83210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77240" y="2258568"/>
            <a:ext cx="402336" cy="292608"/>
          </a:xfrm>
          <a:prstGeom prst="roundRect">
            <a:avLst>
              <a:gd name="adj" fmla="val 12000"/>
            </a:avLst>
          </a:prstGeom>
          <a:solidFill>
            <a:srgbClr val="087F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0392" y="2299715"/>
            <a:ext cx="256032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000" b="1">
                <a:solidFill>
                  <a:srgbClr val="FFFFFF"/>
                </a:solidFill>
                <a:latin typeface="DejaVu Sans"/>
              </a:defRPr>
            </a:pPr>
            <a:r>
              <a:t>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2697479"/>
            <a:ext cx="8229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100" b="0">
                <a:solidFill>
                  <a:srgbClr val="566E74"/>
                </a:solidFill>
                <a:latin typeface="DejaVu Sans"/>
              </a:defRPr>
            </a:pPr>
            <a:r>
              <a:t>0–3s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46504" y="2240279"/>
            <a:ext cx="2770632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200" b="1">
                <a:solidFill>
                  <a:srgbClr val="16313A"/>
                </a:solidFill>
                <a:latin typeface="DejaVu Sans"/>
              </a:defRPr>
            </a:pPr>
            <a:r>
              <a:t>PESSOA NA ENTRADA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46504" y="2542032"/>
            <a:ext cx="2770632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150" b="0">
                <a:solidFill>
                  <a:srgbClr val="566E74"/>
                </a:solidFill>
                <a:latin typeface="DejaVu Sans"/>
              </a:defRPr>
            </a:pPr>
            <a:r>
              <a:t>Plano médio, celular firme.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91456" y="2258568"/>
            <a:ext cx="6473952" cy="6309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700" b="0">
                <a:solidFill>
                  <a:srgbClr val="203941"/>
                </a:solidFill>
                <a:latin typeface="DejaVu Sans"/>
              </a:defRPr>
            </a:pPr>
            <a:r>
              <a:t>“Você já conhece a Central Suplementos?”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" y="3035808"/>
            <a:ext cx="10936224" cy="83210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777240" y="3191256"/>
            <a:ext cx="402336" cy="292608"/>
          </a:xfrm>
          <a:prstGeom prst="roundRect">
            <a:avLst>
              <a:gd name="adj" fmla="val 12000"/>
            </a:avLst>
          </a:prstGeom>
          <a:solidFill>
            <a:srgbClr val="087F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50392" y="3232403"/>
            <a:ext cx="256032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000" b="1">
                <a:solidFill>
                  <a:srgbClr val="FFFFFF"/>
                </a:solidFill>
                <a:latin typeface="DejaVu Sans"/>
              </a:defRPr>
            </a:pPr>
            <a:r>
              <a:t>02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3630168"/>
            <a:ext cx="8229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100" b="0">
                <a:solidFill>
                  <a:srgbClr val="566E74"/>
                </a:solidFill>
                <a:latin typeface="DejaVu Sans"/>
              </a:defRPr>
            </a:pPr>
            <a:r>
              <a:t>3–7s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746504" y="3172968"/>
            <a:ext cx="2770632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200" b="1">
                <a:solidFill>
                  <a:srgbClr val="16313A"/>
                </a:solidFill>
                <a:latin typeface="DejaVu Sans"/>
              </a:defRPr>
            </a:pPr>
            <a:r>
              <a:t>FACHADA E INTERIOR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746504" y="3474720"/>
            <a:ext cx="2770632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150" b="0">
                <a:solidFill>
                  <a:srgbClr val="566E74"/>
                </a:solidFill>
                <a:latin typeface="DejaVu Sans"/>
              </a:defRPr>
            </a:pPr>
            <a:r>
              <a:t>A voz continua sobre as imagens.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91456" y="3191256"/>
            <a:ext cx="6473952" cy="6309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700" b="0">
                <a:solidFill>
                  <a:srgbClr val="203941"/>
                </a:solidFill>
                <a:latin typeface="DejaVu Sans"/>
              </a:defRPr>
            </a:pPr>
            <a:r>
              <a:t>“A gente fica no Mercado Central.”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1792" y="3968496"/>
            <a:ext cx="10936224" cy="83210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777240" y="4123944"/>
            <a:ext cx="402336" cy="292608"/>
          </a:xfrm>
          <a:prstGeom prst="roundRect">
            <a:avLst>
              <a:gd name="adj" fmla="val 12000"/>
            </a:avLst>
          </a:prstGeom>
          <a:solidFill>
            <a:srgbClr val="087F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50392" y="4165091"/>
            <a:ext cx="256032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000" b="1">
                <a:solidFill>
                  <a:srgbClr val="FFFFFF"/>
                </a:solidFill>
                <a:latin typeface="DejaVu Sans"/>
              </a:defRPr>
            </a:pPr>
            <a:r>
              <a:t>03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7240" y="4562856"/>
            <a:ext cx="8229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100" b="0">
                <a:solidFill>
                  <a:srgbClr val="566E74"/>
                </a:solidFill>
                <a:latin typeface="DejaVu Sans"/>
              </a:defRPr>
            </a:pPr>
            <a:r>
              <a:t>7–12s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746504" y="4105656"/>
            <a:ext cx="2770632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200" b="1">
                <a:solidFill>
                  <a:srgbClr val="16313A"/>
                </a:solidFill>
                <a:latin typeface="DejaVu Sans"/>
              </a:defRPr>
            </a:pPr>
            <a:r>
              <a:t>TRÊS CLOSES DE PRODUTOS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746504" y="4407408"/>
            <a:ext cx="2770632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150" b="0">
                <a:solidFill>
                  <a:srgbClr val="566E74"/>
                </a:solidFill>
                <a:latin typeface="DejaVu Sans"/>
              </a:defRPr>
            </a:pPr>
            <a:r>
              <a:t>Mostrar uma opção por vez.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791456" y="4123944"/>
            <a:ext cx="6473952" cy="6309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700" b="0">
                <a:solidFill>
                  <a:srgbClr val="203941"/>
                </a:solidFill>
                <a:latin typeface="DejaVu Sans"/>
              </a:defRPr>
            </a:pPr>
            <a:r>
              <a:t>“Olha algumas opções disponíveis por aqui.”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21792" y="4901183"/>
            <a:ext cx="10936224" cy="83210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777240" y="5056631"/>
            <a:ext cx="402336" cy="292608"/>
          </a:xfrm>
          <a:prstGeom prst="roundRect">
            <a:avLst>
              <a:gd name="adj" fmla="val 12000"/>
            </a:avLst>
          </a:prstGeom>
          <a:solidFill>
            <a:srgbClr val="087F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50392" y="5097779"/>
            <a:ext cx="256032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000" b="1">
                <a:solidFill>
                  <a:srgbClr val="FFFFFF"/>
                </a:solidFill>
                <a:latin typeface="DejaVu Sans"/>
              </a:defRPr>
            </a:pPr>
            <a:r>
              <a:t>04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77240" y="5495544"/>
            <a:ext cx="8229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100" b="0">
                <a:solidFill>
                  <a:srgbClr val="566E74"/>
                </a:solidFill>
                <a:latin typeface="DejaVu Sans"/>
              </a:defRPr>
            </a:pPr>
            <a:r>
              <a:t>12–15s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746504" y="5038344"/>
            <a:ext cx="2770632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200" b="1">
                <a:solidFill>
                  <a:srgbClr val="16313A"/>
                </a:solidFill>
                <a:latin typeface="DejaVu Sans"/>
              </a:defRPr>
            </a:pPr>
            <a:r>
              <a:t>PESSOA À CÂMERA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746504" y="5340096"/>
            <a:ext cx="2770632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150" b="0">
                <a:solidFill>
                  <a:srgbClr val="566E74"/>
                </a:solidFill>
                <a:latin typeface="DejaVu Sans"/>
              </a:defRPr>
            </a:pPr>
            <a:r>
              <a:t>Encerrar olhando para quem assiste.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791456" y="5056631"/>
            <a:ext cx="6473952" cy="6309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700" b="0">
                <a:solidFill>
                  <a:srgbClr val="203941"/>
                </a:solidFill>
                <a:latin typeface="DejaVu Sans"/>
              </a:defRPr>
            </a:pPr>
            <a:r>
              <a:t>“Acompanhe o perfil e conheça a loja.”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48640" y="5879592"/>
            <a:ext cx="11082528" cy="365760"/>
          </a:xfrm>
          <a:prstGeom prst="roundRect">
            <a:avLst>
              <a:gd name="adj" fmla="val 12000"/>
            </a:avLst>
          </a:prstGeom>
          <a:solidFill>
            <a:srgbClr val="E3E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94944" y="5952744"/>
            <a:ext cx="1078992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100" b="1">
                <a:solidFill>
                  <a:srgbClr val="087F83"/>
                </a:solidFill>
                <a:latin typeface="DejaVu Sans"/>
              </a:defRPr>
            </a:pPr>
            <a:r>
              <a:t>Gravar os três closes por 5–8s cada; na edição, usar apenas os trechos necessários.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000" b="1">
                <a:solidFill>
                  <a:srgbClr val="087F83"/>
                </a:solidFill>
                <a:latin typeface="DejaVu Sans"/>
              </a:defRPr>
            </a:pPr>
            <a:r>
              <a:t>CENTRAL SUPLEMENTOS  /  NOVEMBRO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13232"/>
            <a:ext cx="1106424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2900" b="1">
                <a:solidFill>
                  <a:srgbClr val="16313A"/>
                </a:solidFill>
                <a:latin typeface="DejaVu Sans"/>
              </a:defRPr>
            </a:pPr>
            <a:r>
              <a:t>07/11 · Uma categoria por vez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128016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300" b="0">
                <a:solidFill>
                  <a:srgbClr val="566E74"/>
                </a:solidFill>
                <a:latin typeface="DejaVu Sans"/>
              </a:defRPr>
            </a:pPr>
            <a:r>
              <a:t>Stories · 3 partes  •  Takes numerados + falas sugeridas  •  A pessoa pode adaptar as palavras sem alterar as informações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428232"/>
            <a:ext cx="11173968" cy="10972"/>
          </a:xfrm>
          <a:prstGeom prst="rect">
            <a:avLst/>
          </a:prstGeom>
          <a:solidFill>
            <a:srgbClr val="D7E2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21207" y="6537960"/>
            <a:ext cx="914400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800" b="0">
                <a:solidFill>
                  <a:srgbClr val="566E74"/>
                </a:solidFill>
                <a:latin typeface="DejaVu Sans"/>
              </a:defRPr>
            </a:pPr>
            <a:r>
              <a:t>Plano operacional • Layout de trabalho: aplicar identidade oficial antes de publicar.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82528" y="6501384"/>
            <a:ext cx="54864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700"/>
              </a:spcAft>
              <a:defRPr sz="1100" b="1">
                <a:solidFill>
                  <a:srgbClr val="087F83"/>
                </a:solidFill>
                <a:latin typeface="DejaVu Sans"/>
              </a:defRPr>
            </a:pPr>
            <a:r>
              <a:t>06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7512" y="1810512"/>
            <a:ext cx="8229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000" b="1">
                <a:solidFill>
                  <a:srgbClr val="087F83"/>
                </a:solidFill>
                <a:latin typeface="DejaVu Sans"/>
              </a:defRPr>
            </a:pPr>
            <a:r>
              <a:t>TAKE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46504" y="1810512"/>
            <a:ext cx="27889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000" b="1">
                <a:solidFill>
                  <a:srgbClr val="087F83"/>
                </a:solidFill>
                <a:latin typeface="DejaVu Sans"/>
              </a:defRPr>
            </a:pPr>
            <a:r>
              <a:t>O QUE GRAVAR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91456" y="1810512"/>
            <a:ext cx="64922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000" b="1">
                <a:solidFill>
                  <a:srgbClr val="087F83"/>
                </a:solidFill>
                <a:latin typeface="DejaVu Sans"/>
              </a:defRPr>
            </a:pPr>
            <a:r>
              <a:t>FALA SUGERIDA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" y="2194560"/>
            <a:ext cx="10936224" cy="98755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77240" y="2350008"/>
            <a:ext cx="402336" cy="292608"/>
          </a:xfrm>
          <a:prstGeom prst="roundRect">
            <a:avLst>
              <a:gd name="adj" fmla="val 12000"/>
            </a:avLst>
          </a:prstGeom>
          <a:solidFill>
            <a:srgbClr val="087F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0392" y="2391156"/>
            <a:ext cx="256032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000" b="1">
                <a:solidFill>
                  <a:srgbClr val="FFFFFF"/>
                </a:solidFill>
                <a:latin typeface="DejaVu Sans"/>
              </a:defRPr>
            </a:pPr>
            <a:r>
              <a:t>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2788920"/>
            <a:ext cx="8229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100" b="0">
                <a:solidFill>
                  <a:srgbClr val="566E74"/>
                </a:solidFill>
                <a:latin typeface="DejaVu Sans"/>
              </a:defRPr>
            </a:pPr>
            <a:r>
              <a:t>5–7s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46504" y="2331720"/>
            <a:ext cx="2770632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200" b="1">
                <a:solidFill>
                  <a:srgbClr val="16313A"/>
                </a:solidFill>
                <a:latin typeface="DejaVu Sans"/>
              </a:defRPr>
            </a:pPr>
            <a:r>
              <a:t>PESSOA AO LADO DA PRATELEIRA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46504" y="2633472"/>
            <a:ext cx="2770632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150" b="0">
                <a:solidFill>
                  <a:srgbClr val="566E74"/>
                </a:solidFill>
                <a:latin typeface="DejaVu Sans"/>
              </a:defRPr>
            </a:pPr>
            <a:r>
              <a:t>Escolher uma categoria real.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91456" y="2350008"/>
            <a:ext cx="6473952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700" b="0">
                <a:solidFill>
                  <a:srgbClr val="203941"/>
                </a:solidFill>
                <a:latin typeface="DejaVu Sans"/>
              </a:defRPr>
            </a:pPr>
            <a:r>
              <a:t>“Hoje vou mostrar algumas opções de [categoria] disponíveis na Central.”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" y="3310128"/>
            <a:ext cx="10936224" cy="98755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777240" y="3465576"/>
            <a:ext cx="402336" cy="292608"/>
          </a:xfrm>
          <a:prstGeom prst="roundRect">
            <a:avLst>
              <a:gd name="adj" fmla="val 12000"/>
            </a:avLst>
          </a:prstGeom>
          <a:solidFill>
            <a:srgbClr val="087F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50392" y="3506724"/>
            <a:ext cx="256032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000" b="1">
                <a:solidFill>
                  <a:srgbClr val="FFFFFF"/>
                </a:solidFill>
                <a:latin typeface="DejaVu Sans"/>
              </a:defRPr>
            </a:pPr>
            <a:r>
              <a:t>02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3904488"/>
            <a:ext cx="8229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100" b="0">
                <a:solidFill>
                  <a:srgbClr val="566E74"/>
                </a:solidFill>
                <a:latin typeface="DejaVu Sans"/>
              </a:defRPr>
            </a:pPr>
            <a:r>
              <a:t>5–8s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746504" y="3447288"/>
            <a:ext cx="2770632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200" b="1">
                <a:solidFill>
                  <a:srgbClr val="16313A"/>
                </a:solidFill>
                <a:latin typeface="DejaVu Sans"/>
              </a:defRPr>
            </a:pPr>
            <a:r>
              <a:t>DOIS OU TRÊS PRODUTOS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746504" y="3749039"/>
            <a:ext cx="2770632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150" b="0">
                <a:solidFill>
                  <a:srgbClr val="566E74"/>
                </a:solidFill>
                <a:latin typeface="DejaVu Sans"/>
              </a:defRPr>
            </a:pPr>
            <a:r>
              <a:t>Mostrar e identificar cada um.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91456" y="3465576"/>
            <a:ext cx="6473952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700" b="0">
                <a:solidFill>
                  <a:srgbClr val="203941"/>
                </a:solidFill>
                <a:latin typeface="DejaVu Sans"/>
              </a:defRPr>
            </a:pPr>
            <a:r>
              <a:t>“Estas são [opção A], [opção B] e [opção C]. Olha os detalhes de cada uma.”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1792" y="4425696"/>
            <a:ext cx="10936224" cy="98755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777240" y="4581144"/>
            <a:ext cx="402336" cy="292608"/>
          </a:xfrm>
          <a:prstGeom prst="roundRect">
            <a:avLst>
              <a:gd name="adj" fmla="val 12000"/>
            </a:avLst>
          </a:prstGeom>
          <a:solidFill>
            <a:srgbClr val="087F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50392" y="4622292"/>
            <a:ext cx="256032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000" b="1">
                <a:solidFill>
                  <a:srgbClr val="FFFFFF"/>
                </a:solidFill>
                <a:latin typeface="DejaVu Sans"/>
              </a:defRPr>
            </a:pPr>
            <a:r>
              <a:t>03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7240" y="5020056"/>
            <a:ext cx="8229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100" b="0">
                <a:solidFill>
                  <a:srgbClr val="566E74"/>
                </a:solidFill>
                <a:latin typeface="DejaVu Sans"/>
              </a:defRPr>
            </a:pPr>
            <a:r>
              <a:t>5–7s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746504" y="4562856"/>
            <a:ext cx="2770632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200" b="1">
                <a:solidFill>
                  <a:srgbClr val="16313A"/>
                </a:solidFill>
                <a:latin typeface="DejaVu Sans"/>
              </a:defRPr>
            </a:pPr>
            <a:r>
              <a:t>PESSOA OU PRODUTO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746504" y="4864608"/>
            <a:ext cx="2770632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150" b="0">
                <a:solidFill>
                  <a:srgbClr val="566E74"/>
                </a:solidFill>
                <a:latin typeface="DejaVu Sans"/>
              </a:defRPr>
            </a:pPr>
            <a:r>
              <a:t>Indicar o link na tela.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791456" y="4581144"/>
            <a:ext cx="6473952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700" b="0">
                <a:solidFill>
                  <a:srgbClr val="203941"/>
                </a:solidFill>
                <a:latin typeface="DejaVu Sans"/>
              </a:defRPr>
            </a:pPr>
            <a:r>
              <a:t>“Quer conhecer mais? Toque no link e explore a categoria no site.”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48640" y="5879592"/>
            <a:ext cx="11082528" cy="365760"/>
          </a:xfrm>
          <a:prstGeom prst="roundRect">
            <a:avLst>
              <a:gd name="adj" fmla="val 12000"/>
            </a:avLst>
          </a:prstGeom>
          <a:solidFill>
            <a:srgbClr val="E3E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94944" y="5952744"/>
            <a:ext cx="1078992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100" b="1">
                <a:solidFill>
                  <a:srgbClr val="087F83"/>
                </a:solidFill>
                <a:latin typeface="DejaVu Sans"/>
              </a:defRPr>
            </a:pPr>
            <a:r>
              <a:t>Adicionar link direto para a categoria mostrada e confirmar os itens disponíveis.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000" b="1">
                <a:solidFill>
                  <a:srgbClr val="087F83"/>
                </a:solidFill>
                <a:latin typeface="DejaVu Sans"/>
              </a:defRPr>
            </a:pPr>
            <a:r>
              <a:t>CENTRAL SUPLEMENTOS  /  NOVEMBRO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13232"/>
            <a:ext cx="1106424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2900" b="1">
                <a:solidFill>
                  <a:srgbClr val="16313A"/>
                </a:solidFill>
                <a:latin typeface="DejaVu Sans"/>
              </a:defRPr>
            </a:pPr>
            <a:r>
              <a:t>10/11 · Qual whey você quer conhecer?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128016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300" b="0">
                <a:solidFill>
                  <a:srgbClr val="566E74"/>
                </a:solidFill>
                <a:latin typeface="DejaVu Sans"/>
              </a:defRPr>
            </a:pPr>
            <a:r>
              <a:t>Stories · 3 partes  •  Takes numerados + falas sugeridas  •  A pessoa pode adaptar as palavras sem alterar as informações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428232"/>
            <a:ext cx="11173968" cy="10972"/>
          </a:xfrm>
          <a:prstGeom prst="rect">
            <a:avLst/>
          </a:prstGeom>
          <a:solidFill>
            <a:srgbClr val="D7E2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21207" y="6537960"/>
            <a:ext cx="914400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800" b="0">
                <a:solidFill>
                  <a:srgbClr val="566E74"/>
                </a:solidFill>
                <a:latin typeface="DejaVu Sans"/>
              </a:defRPr>
            </a:pPr>
            <a:r>
              <a:t>Plano operacional • Layout de trabalho: aplicar identidade oficial antes de publicar.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82528" y="6501384"/>
            <a:ext cx="54864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700"/>
              </a:spcAft>
              <a:defRPr sz="1100" b="1">
                <a:solidFill>
                  <a:srgbClr val="087F83"/>
                </a:solidFill>
                <a:latin typeface="DejaVu Sans"/>
              </a:defRPr>
            </a:pPr>
            <a:r>
              <a:t>07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7512" y="1810512"/>
            <a:ext cx="8229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000" b="1">
                <a:solidFill>
                  <a:srgbClr val="087F83"/>
                </a:solidFill>
                <a:latin typeface="DejaVu Sans"/>
              </a:defRPr>
            </a:pPr>
            <a:r>
              <a:t>TAKE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46504" y="1810512"/>
            <a:ext cx="27889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000" b="1">
                <a:solidFill>
                  <a:srgbClr val="087F83"/>
                </a:solidFill>
                <a:latin typeface="DejaVu Sans"/>
              </a:defRPr>
            </a:pPr>
            <a:r>
              <a:t>O QUE GRAVAR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91456" y="1810512"/>
            <a:ext cx="64922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000" b="1">
                <a:solidFill>
                  <a:srgbClr val="087F83"/>
                </a:solidFill>
                <a:latin typeface="DejaVu Sans"/>
              </a:defRPr>
            </a:pPr>
            <a:r>
              <a:t>FALA SUGERIDA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" y="2194560"/>
            <a:ext cx="10936224" cy="98755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77240" y="2350008"/>
            <a:ext cx="402336" cy="292608"/>
          </a:xfrm>
          <a:prstGeom prst="roundRect">
            <a:avLst>
              <a:gd name="adj" fmla="val 12000"/>
            </a:avLst>
          </a:prstGeom>
          <a:solidFill>
            <a:srgbClr val="087F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0392" y="2391156"/>
            <a:ext cx="256032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000" b="1">
                <a:solidFill>
                  <a:srgbClr val="FFFFFF"/>
                </a:solidFill>
                <a:latin typeface="DejaVu Sans"/>
              </a:defRPr>
            </a:pPr>
            <a:r>
              <a:t>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2788920"/>
            <a:ext cx="8229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100" b="0">
                <a:solidFill>
                  <a:srgbClr val="566E74"/>
                </a:solidFill>
                <a:latin typeface="DejaVu Sans"/>
              </a:defRPr>
            </a:pPr>
            <a:r>
              <a:t>4–6s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46504" y="2331720"/>
            <a:ext cx="2770632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200" b="1">
                <a:solidFill>
                  <a:srgbClr val="16313A"/>
                </a:solidFill>
                <a:latin typeface="DejaVu Sans"/>
              </a:defRPr>
            </a:pPr>
            <a:r>
              <a:t>PESSOA COM OS PRODUTOS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46504" y="2633472"/>
            <a:ext cx="2770632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150" b="0">
                <a:solidFill>
                  <a:srgbClr val="566E74"/>
                </a:solidFill>
                <a:latin typeface="DejaVu Sans"/>
              </a:defRPr>
            </a:pPr>
            <a:r>
              <a:t>Mostrar duas ou três marcas.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91456" y="2350008"/>
            <a:ext cx="6473952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700" b="0">
                <a:solidFill>
                  <a:srgbClr val="203941"/>
                </a:solidFill>
                <a:latin typeface="DejaVu Sans"/>
              </a:defRPr>
            </a:pPr>
            <a:r>
              <a:t>“Temos estas opções de whey disponíveis na loja.”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" y="3310128"/>
            <a:ext cx="10936224" cy="98755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777240" y="3465576"/>
            <a:ext cx="402336" cy="292608"/>
          </a:xfrm>
          <a:prstGeom prst="roundRect">
            <a:avLst>
              <a:gd name="adj" fmla="val 12000"/>
            </a:avLst>
          </a:prstGeom>
          <a:solidFill>
            <a:srgbClr val="087F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50392" y="3506724"/>
            <a:ext cx="256032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000" b="1">
                <a:solidFill>
                  <a:srgbClr val="FFFFFF"/>
                </a:solidFill>
                <a:latin typeface="DejaVu Sans"/>
              </a:defRPr>
            </a:pPr>
            <a:r>
              <a:t>02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3904488"/>
            <a:ext cx="8229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100" b="0">
                <a:solidFill>
                  <a:srgbClr val="566E74"/>
                </a:solidFill>
                <a:latin typeface="DejaVu Sans"/>
              </a:defRPr>
            </a:pPr>
            <a:r>
              <a:t>5–7s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746504" y="3447288"/>
            <a:ext cx="2770632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200" b="1">
                <a:solidFill>
                  <a:srgbClr val="16313A"/>
                </a:solidFill>
                <a:latin typeface="DejaVu Sans"/>
              </a:defRPr>
            </a:pPr>
            <a:r>
              <a:t>CLOSES COM NARRAÇÃO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746504" y="3749039"/>
            <a:ext cx="2770632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150" b="0">
                <a:solidFill>
                  <a:srgbClr val="566E74"/>
                </a:solidFill>
                <a:latin typeface="DejaVu Sans"/>
              </a:defRPr>
            </a:pPr>
            <a:r>
              <a:t>Apresentar os nomes reais.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91456" y="3465576"/>
            <a:ext cx="6473952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700" b="0">
                <a:solidFill>
                  <a:srgbClr val="203941"/>
                </a:solidFill>
                <a:latin typeface="DejaVu Sans"/>
              </a:defRPr>
            </a:pPr>
            <a:r>
              <a:t>“Estas são [marca A], [marca B] e [marca C]. Qual você quer conhecer melhor?”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1792" y="4425696"/>
            <a:ext cx="10936224" cy="98755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777240" y="4581144"/>
            <a:ext cx="402336" cy="292608"/>
          </a:xfrm>
          <a:prstGeom prst="roundRect">
            <a:avLst>
              <a:gd name="adj" fmla="val 12000"/>
            </a:avLst>
          </a:prstGeom>
          <a:solidFill>
            <a:srgbClr val="087F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50392" y="4622292"/>
            <a:ext cx="256032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000" b="1">
                <a:solidFill>
                  <a:srgbClr val="FFFFFF"/>
                </a:solidFill>
                <a:latin typeface="DejaVu Sans"/>
              </a:defRPr>
            </a:pPr>
            <a:r>
              <a:t>03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7240" y="5020056"/>
            <a:ext cx="8229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100" b="0">
                <a:solidFill>
                  <a:srgbClr val="566E74"/>
                </a:solidFill>
                <a:latin typeface="DejaVu Sans"/>
              </a:defRPr>
            </a:pPr>
            <a:r>
              <a:t>4–6s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746504" y="4562856"/>
            <a:ext cx="2770632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200" b="1">
                <a:solidFill>
                  <a:srgbClr val="16313A"/>
                </a:solidFill>
                <a:latin typeface="DejaVu Sans"/>
              </a:defRPr>
            </a:pPr>
            <a:r>
              <a:t>PESSOA + ENQUETE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746504" y="4864608"/>
            <a:ext cx="2770632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150" b="0">
                <a:solidFill>
                  <a:srgbClr val="566E74"/>
                </a:solidFill>
                <a:latin typeface="DejaVu Sans"/>
              </a:defRPr>
            </a:pPr>
            <a:r>
              <a:t>Deixar o recurso livre na tela.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791456" y="4581144"/>
            <a:ext cx="6473952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700" b="0">
                <a:solidFill>
                  <a:srgbClr val="203941"/>
                </a:solidFill>
                <a:latin typeface="DejaVu Sans"/>
              </a:defRPr>
            </a:pPr>
            <a:r>
              <a:t>“Vote aqui na enquete. No sábado, vou mostrar os detalhes da escolhida.”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48640" y="5879592"/>
            <a:ext cx="11082528" cy="365760"/>
          </a:xfrm>
          <a:prstGeom prst="roundRect">
            <a:avLst>
              <a:gd name="adj" fmla="val 12000"/>
            </a:avLst>
          </a:prstGeom>
          <a:solidFill>
            <a:srgbClr val="E3E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94944" y="5952744"/>
            <a:ext cx="1078992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100" b="1">
                <a:solidFill>
                  <a:srgbClr val="087F83"/>
                </a:solidFill>
                <a:latin typeface="DejaVu Sans"/>
              </a:defRPr>
            </a:pPr>
            <a:r>
              <a:t>Usar opções reais na enquete. Salvar o resultado antes de os Stories expirarem.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000" b="1">
                <a:solidFill>
                  <a:srgbClr val="087F83"/>
                </a:solidFill>
                <a:latin typeface="DejaVu Sans"/>
              </a:defRPr>
            </a:pPr>
            <a:r>
              <a:t>CENTRAL SUPLEMENTOS  /  NOVEMBRO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13232"/>
            <a:ext cx="1106424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2900" b="1">
                <a:solidFill>
                  <a:srgbClr val="16313A"/>
                </a:solidFill>
                <a:latin typeface="DejaVu Sans"/>
              </a:defRPr>
            </a:pPr>
            <a:r>
              <a:t>12/11 · Procurando whey?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128016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300" b="0">
                <a:solidFill>
                  <a:srgbClr val="566E74"/>
                </a:solidFill>
                <a:latin typeface="DejaVu Sans"/>
              </a:defRPr>
            </a:pPr>
            <a:r>
              <a:t>Reel · aprox. 20s  •  Takes numerados + falas sugeridas  •  A pessoa pode adaptar as palavras sem alterar as informações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428232"/>
            <a:ext cx="11173968" cy="10972"/>
          </a:xfrm>
          <a:prstGeom prst="rect">
            <a:avLst/>
          </a:prstGeom>
          <a:solidFill>
            <a:srgbClr val="D7E2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21207" y="6537960"/>
            <a:ext cx="914400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800" b="0">
                <a:solidFill>
                  <a:srgbClr val="566E74"/>
                </a:solidFill>
                <a:latin typeface="DejaVu Sans"/>
              </a:defRPr>
            </a:pPr>
            <a:r>
              <a:t>Plano operacional • Layout de trabalho: aplicar identidade oficial antes de publicar.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82528" y="6501384"/>
            <a:ext cx="54864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700"/>
              </a:spcAft>
              <a:defRPr sz="1100" b="1">
                <a:solidFill>
                  <a:srgbClr val="087F83"/>
                </a:solidFill>
                <a:latin typeface="DejaVu Sans"/>
              </a:defRPr>
            </a:pPr>
            <a:r>
              <a:t>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7512" y="1810512"/>
            <a:ext cx="8229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000" b="1">
                <a:solidFill>
                  <a:srgbClr val="087F83"/>
                </a:solidFill>
                <a:latin typeface="DejaVu Sans"/>
              </a:defRPr>
            </a:pPr>
            <a:r>
              <a:t>TAKE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46504" y="1810512"/>
            <a:ext cx="27889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000" b="1">
                <a:solidFill>
                  <a:srgbClr val="087F83"/>
                </a:solidFill>
                <a:latin typeface="DejaVu Sans"/>
              </a:defRPr>
            </a:pPr>
            <a:r>
              <a:t>O QUE GRAVAR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91456" y="1810512"/>
            <a:ext cx="64922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000" b="1">
                <a:solidFill>
                  <a:srgbClr val="087F83"/>
                </a:solidFill>
                <a:latin typeface="DejaVu Sans"/>
              </a:defRPr>
            </a:pPr>
            <a:r>
              <a:t>FALA SUGERIDA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" y="2103120"/>
            <a:ext cx="10936224" cy="83210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77240" y="2258568"/>
            <a:ext cx="402336" cy="292608"/>
          </a:xfrm>
          <a:prstGeom prst="roundRect">
            <a:avLst>
              <a:gd name="adj" fmla="val 12000"/>
            </a:avLst>
          </a:prstGeom>
          <a:solidFill>
            <a:srgbClr val="087F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0392" y="2299715"/>
            <a:ext cx="256032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000" b="1">
                <a:solidFill>
                  <a:srgbClr val="FFFFFF"/>
                </a:solidFill>
                <a:latin typeface="DejaVu Sans"/>
              </a:defRPr>
            </a:pPr>
            <a:r>
              <a:t>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2697479"/>
            <a:ext cx="8229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100" b="0">
                <a:solidFill>
                  <a:srgbClr val="566E74"/>
                </a:solidFill>
                <a:latin typeface="DejaVu Sans"/>
              </a:defRPr>
            </a:pPr>
            <a:r>
              <a:t>0–4s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46504" y="2240279"/>
            <a:ext cx="2770632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200" b="1">
                <a:solidFill>
                  <a:srgbClr val="16313A"/>
                </a:solidFill>
                <a:latin typeface="DejaVu Sans"/>
              </a:defRPr>
            </a:pPr>
            <a:r>
              <a:t>PESSOA COM UMA EMBALAGEM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46504" y="2542032"/>
            <a:ext cx="2770632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150" b="0">
                <a:solidFill>
                  <a:srgbClr val="566E74"/>
                </a:solidFill>
                <a:latin typeface="DejaVu Sans"/>
              </a:defRPr>
            </a:pPr>
            <a:r>
              <a:t>Abrir com a pergunta.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91456" y="2258568"/>
            <a:ext cx="6473952" cy="6309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700" b="0">
                <a:solidFill>
                  <a:srgbClr val="203941"/>
                </a:solidFill>
                <a:latin typeface="DejaVu Sans"/>
              </a:defRPr>
            </a:pPr>
            <a:r>
              <a:t>“Procurando whey? Vem conhecer algumas opções da Central.”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" y="3035808"/>
            <a:ext cx="10936224" cy="83210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777240" y="3191256"/>
            <a:ext cx="402336" cy="292608"/>
          </a:xfrm>
          <a:prstGeom prst="roundRect">
            <a:avLst>
              <a:gd name="adj" fmla="val 12000"/>
            </a:avLst>
          </a:prstGeom>
          <a:solidFill>
            <a:srgbClr val="087F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50392" y="3232403"/>
            <a:ext cx="256032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000" b="1">
                <a:solidFill>
                  <a:srgbClr val="FFFFFF"/>
                </a:solidFill>
                <a:latin typeface="DejaVu Sans"/>
              </a:defRPr>
            </a:pPr>
            <a:r>
              <a:t>02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3630168"/>
            <a:ext cx="8229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100" b="0">
                <a:solidFill>
                  <a:srgbClr val="566E74"/>
                </a:solidFill>
                <a:latin typeface="DejaVu Sans"/>
              </a:defRPr>
            </a:pPr>
            <a:r>
              <a:t>4–9s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746504" y="3172968"/>
            <a:ext cx="2770632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200" b="1">
                <a:solidFill>
                  <a:srgbClr val="16313A"/>
                </a:solidFill>
                <a:latin typeface="DejaVu Sans"/>
              </a:defRPr>
            </a:pPr>
            <a:r>
              <a:t>MARCAS NA PRATELEIRA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746504" y="3474720"/>
            <a:ext cx="2770632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150" b="0">
                <a:solidFill>
                  <a:srgbClr val="566E74"/>
                </a:solidFill>
                <a:latin typeface="DejaVu Sans"/>
              </a:defRPr>
            </a:pPr>
            <a:r>
              <a:t>Manter a voz nos cortes.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91456" y="3191256"/>
            <a:ext cx="6473952" cy="6309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700" b="0">
                <a:solidFill>
                  <a:srgbClr val="203941"/>
                </a:solidFill>
                <a:latin typeface="DejaVu Sans"/>
              </a:defRPr>
            </a:pPr>
            <a:r>
              <a:t>“Estas são algumas das marcas disponíveis na loja.”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1792" y="3968496"/>
            <a:ext cx="10936224" cy="83210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777240" y="4123944"/>
            <a:ext cx="402336" cy="292608"/>
          </a:xfrm>
          <a:prstGeom prst="roundRect">
            <a:avLst>
              <a:gd name="adj" fmla="val 12000"/>
            </a:avLst>
          </a:prstGeom>
          <a:solidFill>
            <a:srgbClr val="087F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50392" y="4165091"/>
            <a:ext cx="256032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000" b="1">
                <a:solidFill>
                  <a:srgbClr val="FFFFFF"/>
                </a:solidFill>
                <a:latin typeface="DejaVu Sans"/>
              </a:defRPr>
            </a:pPr>
            <a:r>
              <a:t>03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7240" y="4562856"/>
            <a:ext cx="8229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100" b="0">
                <a:solidFill>
                  <a:srgbClr val="566E74"/>
                </a:solidFill>
                <a:latin typeface="DejaVu Sans"/>
              </a:defRPr>
            </a:pPr>
            <a:r>
              <a:t>9–15s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746504" y="4105656"/>
            <a:ext cx="2770632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200" b="1">
                <a:solidFill>
                  <a:srgbClr val="16313A"/>
                </a:solidFill>
                <a:latin typeface="DejaVu Sans"/>
              </a:defRPr>
            </a:pPr>
            <a:r>
              <a:t>DETALHES DA EMBALAGEM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746504" y="4407408"/>
            <a:ext cx="2770632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150" b="0">
                <a:solidFill>
                  <a:srgbClr val="566E74"/>
                </a:solidFill>
                <a:latin typeface="DejaVu Sans"/>
              </a:defRPr>
            </a:pPr>
            <a:r>
              <a:t>Apontar cada informação mencionada.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791456" y="4123944"/>
            <a:ext cx="6473952" cy="6309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700" b="0">
                <a:solidFill>
                  <a:srgbClr val="203941"/>
                </a:solidFill>
                <a:latin typeface="DejaVu Sans"/>
              </a:defRPr>
            </a:pPr>
            <a:r>
              <a:t>“Confira a versão, o tamanho e o sabor de cada produto.”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21792" y="4901183"/>
            <a:ext cx="10936224" cy="83210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777240" y="5056631"/>
            <a:ext cx="402336" cy="292608"/>
          </a:xfrm>
          <a:prstGeom prst="roundRect">
            <a:avLst>
              <a:gd name="adj" fmla="val 12000"/>
            </a:avLst>
          </a:prstGeom>
          <a:solidFill>
            <a:srgbClr val="087F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50392" y="5097779"/>
            <a:ext cx="256032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000" b="1">
                <a:solidFill>
                  <a:srgbClr val="FFFFFF"/>
                </a:solidFill>
                <a:latin typeface="DejaVu Sans"/>
              </a:defRPr>
            </a:pPr>
            <a:r>
              <a:t>04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77240" y="5495544"/>
            <a:ext cx="8229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100" b="0">
                <a:solidFill>
                  <a:srgbClr val="566E74"/>
                </a:solidFill>
                <a:latin typeface="DejaVu Sans"/>
              </a:defRPr>
            </a:pPr>
            <a:r>
              <a:t>15–20s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746504" y="5038344"/>
            <a:ext cx="2770632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200" b="1">
                <a:solidFill>
                  <a:srgbClr val="16313A"/>
                </a:solidFill>
                <a:latin typeface="DejaVu Sans"/>
              </a:defRPr>
            </a:pPr>
            <a:r>
              <a:t>PESSOA OU SITE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746504" y="5340096"/>
            <a:ext cx="2770632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150" b="0">
                <a:solidFill>
                  <a:srgbClr val="566E74"/>
                </a:solidFill>
                <a:latin typeface="DejaVu Sans"/>
              </a:defRPr>
            </a:pPr>
            <a:r>
              <a:t>Fechar com orientação.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791456" y="5056631"/>
            <a:ext cx="6473952" cy="6309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700" b="0">
                <a:solidFill>
                  <a:srgbClr val="203941"/>
                </a:solidFill>
                <a:latin typeface="DejaVu Sans"/>
              </a:defRPr>
            </a:pPr>
            <a:r>
              <a:t>“Veja os detalhes na categoria de whey do nosso site.”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48640" y="5879592"/>
            <a:ext cx="11082528" cy="365760"/>
          </a:xfrm>
          <a:prstGeom prst="roundRect">
            <a:avLst>
              <a:gd name="adj" fmla="val 12000"/>
            </a:avLst>
          </a:prstGeom>
          <a:solidFill>
            <a:srgbClr val="E3E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94944" y="5952744"/>
            <a:ext cx="1078992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100" b="1">
                <a:solidFill>
                  <a:srgbClr val="087F83"/>
                </a:solidFill>
                <a:latin typeface="DejaVu Sans"/>
              </a:defRPr>
            </a:pPr>
            <a:r>
              <a:t>Conferir os dados na embalagem ou no cadastro. Indicar o caminho pelo link do perfil.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000" b="1">
                <a:solidFill>
                  <a:srgbClr val="087F83"/>
                </a:solidFill>
                <a:latin typeface="DejaVu Sans"/>
              </a:defRPr>
            </a:pPr>
            <a:r>
              <a:t>CENTRAL SUPLEMENTOS  /  NOVEMBRO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13232"/>
            <a:ext cx="1106424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2900" b="1">
                <a:solidFill>
                  <a:srgbClr val="16313A"/>
                </a:solidFill>
                <a:latin typeface="DejaVu Sans"/>
              </a:defRPr>
            </a:pPr>
            <a:r>
              <a:t>14/11 · Mostrar a escolha da enquete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128016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300" b="0">
                <a:solidFill>
                  <a:srgbClr val="566E74"/>
                </a:solidFill>
                <a:latin typeface="DejaVu Sans"/>
              </a:defRPr>
            </a:pPr>
            <a:r>
              <a:t>Stories · 3 partes  •  Takes numerados + falas sugeridas  •  A pessoa pode adaptar as palavras sem alterar as informações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428232"/>
            <a:ext cx="11173968" cy="10972"/>
          </a:xfrm>
          <a:prstGeom prst="rect">
            <a:avLst/>
          </a:prstGeom>
          <a:solidFill>
            <a:srgbClr val="D7E2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21207" y="6537960"/>
            <a:ext cx="914400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800" b="0">
                <a:solidFill>
                  <a:srgbClr val="566E74"/>
                </a:solidFill>
                <a:latin typeface="DejaVu Sans"/>
              </a:defRPr>
            </a:pPr>
            <a:r>
              <a:t>Plano operacional • Layout de trabalho: aplicar identidade oficial antes de publicar.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82528" y="6501384"/>
            <a:ext cx="54864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700"/>
              </a:spcAft>
              <a:defRPr sz="1100" b="1">
                <a:solidFill>
                  <a:srgbClr val="087F83"/>
                </a:solidFill>
                <a:latin typeface="DejaVu Sans"/>
              </a:defRPr>
            </a:pPr>
            <a:r>
              <a:t>09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7512" y="1810512"/>
            <a:ext cx="8229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000" b="1">
                <a:solidFill>
                  <a:srgbClr val="087F83"/>
                </a:solidFill>
                <a:latin typeface="DejaVu Sans"/>
              </a:defRPr>
            </a:pPr>
            <a:r>
              <a:t>TAKE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46504" y="1810512"/>
            <a:ext cx="27889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000" b="1">
                <a:solidFill>
                  <a:srgbClr val="087F83"/>
                </a:solidFill>
                <a:latin typeface="DejaVu Sans"/>
              </a:defRPr>
            </a:pPr>
            <a:r>
              <a:t>O QUE GRAVAR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91456" y="1810512"/>
            <a:ext cx="64922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000" b="1">
                <a:solidFill>
                  <a:srgbClr val="087F83"/>
                </a:solidFill>
                <a:latin typeface="DejaVu Sans"/>
              </a:defRPr>
            </a:pPr>
            <a:r>
              <a:t>FALA SUGERIDA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" y="2194560"/>
            <a:ext cx="10936224" cy="98755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77240" y="2350008"/>
            <a:ext cx="402336" cy="292608"/>
          </a:xfrm>
          <a:prstGeom prst="roundRect">
            <a:avLst>
              <a:gd name="adj" fmla="val 12000"/>
            </a:avLst>
          </a:prstGeom>
          <a:solidFill>
            <a:srgbClr val="087F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0392" y="2391156"/>
            <a:ext cx="256032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000" b="1">
                <a:solidFill>
                  <a:srgbClr val="FFFFFF"/>
                </a:solidFill>
                <a:latin typeface="DejaVu Sans"/>
              </a:defRPr>
            </a:pPr>
            <a:r>
              <a:t>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2788920"/>
            <a:ext cx="8229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100" b="0">
                <a:solidFill>
                  <a:srgbClr val="566E74"/>
                </a:solidFill>
                <a:latin typeface="DejaVu Sans"/>
              </a:defRPr>
            </a:pPr>
            <a:r>
              <a:t>4–6s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46504" y="2331720"/>
            <a:ext cx="2770632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200" b="1">
                <a:solidFill>
                  <a:srgbClr val="16313A"/>
                </a:solidFill>
                <a:latin typeface="DejaVu Sans"/>
              </a:defRPr>
            </a:pPr>
            <a:r>
              <a:t>PESSOA + RESULTADO REAL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46504" y="2633472"/>
            <a:ext cx="2770632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150" b="0">
                <a:solidFill>
                  <a:srgbClr val="566E74"/>
                </a:solidFill>
                <a:latin typeface="DejaVu Sans"/>
              </a:defRPr>
            </a:pPr>
            <a:r>
              <a:t>Apresentar o que foi votado.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91456" y="2350008"/>
            <a:ext cx="6473952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700" b="0">
                <a:solidFill>
                  <a:srgbClr val="203941"/>
                </a:solidFill>
                <a:latin typeface="DejaVu Sans"/>
              </a:defRPr>
            </a:pPr>
            <a:r>
              <a:t>“Na enquete, vocês escolheram conhecer melhor [produto].”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" y="3310128"/>
            <a:ext cx="10936224" cy="98755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777240" y="3465576"/>
            <a:ext cx="402336" cy="292608"/>
          </a:xfrm>
          <a:prstGeom prst="roundRect">
            <a:avLst>
              <a:gd name="adj" fmla="val 12000"/>
            </a:avLst>
          </a:prstGeom>
          <a:solidFill>
            <a:srgbClr val="087F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50392" y="3506724"/>
            <a:ext cx="256032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000" b="1">
                <a:solidFill>
                  <a:srgbClr val="FFFFFF"/>
                </a:solidFill>
                <a:latin typeface="DejaVu Sans"/>
              </a:defRPr>
            </a:pPr>
            <a:r>
              <a:t>02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3904488"/>
            <a:ext cx="8229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100" b="0">
                <a:solidFill>
                  <a:srgbClr val="566E74"/>
                </a:solidFill>
                <a:latin typeface="DejaVu Sans"/>
              </a:defRPr>
            </a:pPr>
            <a:r>
              <a:t>6–9s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746504" y="3447288"/>
            <a:ext cx="2770632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200" b="1">
                <a:solidFill>
                  <a:srgbClr val="16313A"/>
                </a:solidFill>
                <a:latin typeface="DejaVu Sans"/>
              </a:defRPr>
            </a:pPr>
            <a:r>
              <a:t>PRODUTO INTEIRO E CLOSES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746504" y="3749039"/>
            <a:ext cx="2770632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150" b="0">
                <a:solidFill>
                  <a:srgbClr val="566E74"/>
                </a:solidFill>
                <a:latin typeface="DejaVu Sans"/>
              </a:defRPr>
            </a:pPr>
            <a:r>
              <a:t>Narrar os dados conferidos.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91456" y="3465576"/>
            <a:ext cx="6473952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700" b="0">
                <a:solidFill>
                  <a:srgbClr val="203941"/>
                </a:solidFill>
                <a:latin typeface="DejaVu Sans"/>
              </a:defRPr>
            </a:pPr>
            <a:r>
              <a:t>“Este é o [nome], na versão [versão], com [tamanho], sabor [sabor].”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1792" y="4425696"/>
            <a:ext cx="10936224" cy="98755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777240" y="4581144"/>
            <a:ext cx="402336" cy="292608"/>
          </a:xfrm>
          <a:prstGeom prst="roundRect">
            <a:avLst>
              <a:gd name="adj" fmla="val 12000"/>
            </a:avLst>
          </a:prstGeom>
          <a:solidFill>
            <a:srgbClr val="087F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50392" y="4622292"/>
            <a:ext cx="256032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000" b="1">
                <a:solidFill>
                  <a:srgbClr val="FFFFFF"/>
                </a:solidFill>
                <a:latin typeface="DejaVu Sans"/>
              </a:defRPr>
            </a:pPr>
            <a:r>
              <a:t>03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7240" y="5020056"/>
            <a:ext cx="8229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100" b="0">
                <a:solidFill>
                  <a:srgbClr val="566E74"/>
                </a:solidFill>
                <a:latin typeface="DejaVu Sans"/>
              </a:defRPr>
            </a:pPr>
            <a:r>
              <a:t>4–6s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746504" y="4562856"/>
            <a:ext cx="2770632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200" b="1">
                <a:solidFill>
                  <a:srgbClr val="16313A"/>
                </a:solidFill>
                <a:latin typeface="DejaVu Sans"/>
              </a:defRPr>
            </a:pPr>
            <a:r>
              <a:t>PESSOA OU DETALHE DO PRODUTO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746504" y="4864608"/>
            <a:ext cx="2770632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150" b="0">
                <a:solidFill>
                  <a:srgbClr val="566E74"/>
                </a:solidFill>
                <a:latin typeface="DejaVu Sans"/>
              </a:defRPr>
            </a:pPr>
            <a:r>
              <a:t>Adicionar o link.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791456" y="4581144"/>
            <a:ext cx="6473952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700" b="0">
                <a:solidFill>
                  <a:srgbClr val="203941"/>
                </a:solidFill>
                <a:latin typeface="DejaVu Sans"/>
              </a:defRPr>
            </a:pPr>
            <a:r>
              <a:t>“Quer conferir os detalhes? Deixei o link do produto aqui.”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48640" y="5879592"/>
            <a:ext cx="11082528" cy="365760"/>
          </a:xfrm>
          <a:prstGeom prst="roundRect">
            <a:avLst>
              <a:gd name="adj" fmla="val 12000"/>
            </a:avLst>
          </a:prstGeom>
          <a:solidFill>
            <a:srgbClr val="E3E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94944" y="5952744"/>
            <a:ext cx="1078992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100" b="1">
                <a:solidFill>
                  <a:srgbClr val="087F83"/>
                </a:solidFill>
                <a:latin typeface="DejaVu Sans"/>
              </a:defRPr>
            </a:pPr>
            <a:r>
              <a:t>Sem votos, trocar a abertura por: “Hoje escolhemos uma opção disponível para mostrar a você.”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000" b="1">
                <a:solidFill>
                  <a:srgbClr val="087F83"/>
                </a:solidFill>
                <a:latin typeface="DejaVu Sans"/>
              </a:defRPr>
            </a:pPr>
            <a:r>
              <a:t>CENTRAL SUPLEMENTOS  /  NOVEMBRO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13232"/>
            <a:ext cx="1106424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2900" b="1">
                <a:solidFill>
                  <a:srgbClr val="16313A"/>
                </a:solidFill>
                <a:latin typeface="DejaVu Sans"/>
              </a:defRPr>
            </a:pPr>
            <a:r>
              <a:t>17/11 · Abra espaço para perguntas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128016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300" b="0">
                <a:solidFill>
                  <a:srgbClr val="566E74"/>
                </a:solidFill>
                <a:latin typeface="DejaVu Sans"/>
              </a:defRPr>
            </a:pPr>
            <a:r>
              <a:t>Stories · 3 partes  •  Takes numerados + falas sugeridas  •  A pessoa pode adaptar as palavras sem alterar as informações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428232"/>
            <a:ext cx="11173968" cy="10972"/>
          </a:xfrm>
          <a:prstGeom prst="rect">
            <a:avLst/>
          </a:prstGeom>
          <a:solidFill>
            <a:srgbClr val="D7E2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21207" y="6537960"/>
            <a:ext cx="914400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800" b="0">
                <a:solidFill>
                  <a:srgbClr val="566E74"/>
                </a:solidFill>
                <a:latin typeface="DejaVu Sans"/>
              </a:defRPr>
            </a:pPr>
            <a:r>
              <a:t>Plano operacional • Layout de trabalho: aplicar identidade oficial antes de publicar.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82528" y="6501384"/>
            <a:ext cx="54864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700"/>
              </a:spcAft>
              <a:defRPr sz="1100" b="1">
                <a:solidFill>
                  <a:srgbClr val="087F83"/>
                </a:solidFill>
                <a:latin typeface="DejaVu Sans"/>
              </a:defRPr>
            </a:pPr>
            <a:r>
              <a:t>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7512" y="1810512"/>
            <a:ext cx="8229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000" b="1">
                <a:solidFill>
                  <a:srgbClr val="087F83"/>
                </a:solidFill>
                <a:latin typeface="DejaVu Sans"/>
              </a:defRPr>
            </a:pPr>
            <a:r>
              <a:t>TAKE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46504" y="1810512"/>
            <a:ext cx="27889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000" b="1">
                <a:solidFill>
                  <a:srgbClr val="087F83"/>
                </a:solidFill>
                <a:latin typeface="DejaVu Sans"/>
              </a:defRPr>
            </a:pPr>
            <a:r>
              <a:t>O QUE GRAVAR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91456" y="1810512"/>
            <a:ext cx="64922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000" b="1">
                <a:solidFill>
                  <a:srgbClr val="087F83"/>
                </a:solidFill>
                <a:latin typeface="DejaVu Sans"/>
              </a:defRPr>
            </a:pPr>
            <a:r>
              <a:t>FALA SUGERIDA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" y="2194560"/>
            <a:ext cx="10936224" cy="98755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77240" y="2350008"/>
            <a:ext cx="402336" cy="292608"/>
          </a:xfrm>
          <a:prstGeom prst="roundRect">
            <a:avLst>
              <a:gd name="adj" fmla="val 12000"/>
            </a:avLst>
          </a:prstGeom>
          <a:solidFill>
            <a:srgbClr val="087F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0392" y="2391156"/>
            <a:ext cx="256032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000" b="1">
                <a:solidFill>
                  <a:srgbClr val="FFFFFF"/>
                </a:solidFill>
                <a:latin typeface="DejaVu Sans"/>
              </a:defRPr>
            </a:pPr>
            <a:r>
              <a:t>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2788920"/>
            <a:ext cx="8229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100" b="0">
                <a:solidFill>
                  <a:srgbClr val="566E74"/>
                </a:solidFill>
                <a:latin typeface="DejaVu Sans"/>
              </a:defRPr>
            </a:pPr>
            <a:r>
              <a:t>4–6s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46504" y="2331720"/>
            <a:ext cx="2770632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200" b="1">
                <a:solidFill>
                  <a:srgbClr val="16313A"/>
                </a:solidFill>
                <a:latin typeface="DejaVu Sans"/>
              </a:defRPr>
            </a:pPr>
            <a:r>
              <a:t>PESSOA DENTRO DA LOJA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46504" y="2633472"/>
            <a:ext cx="2770632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150" b="0">
                <a:solidFill>
                  <a:srgbClr val="566E74"/>
                </a:solidFill>
                <a:latin typeface="DejaVu Sans"/>
              </a:defRPr>
            </a:pPr>
            <a:r>
              <a:t>Falar diretamente com o público.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91456" y="2350008"/>
            <a:ext cx="6473952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700" b="0">
                <a:solidFill>
                  <a:srgbClr val="203941"/>
                </a:solidFill>
                <a:latin typeface="DejaVu Sans"/>
              </a:defRPr>
            </a:pPr>
            <a:r>
              <a:t>“Quer conhecer melhor a Central? Hoje eu quero ouvir você.”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" y="3310128"/>
            <a:ext cx="10936224" cy="98755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777240" y="3465576"/>
            <a:ext cx="402336" cy="292608"/>
          </a:xfrm>
          <a:prstGeom prst="roundRect">
            <a:avLst>
              <a:gd name="adj" fmla="val 12000"/>
            </a:avLst>
          </a:prstGeom>
          <a:solidFill>
            <a:srgbClr val="087F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50392" y="3506724"/>
            <a:ext cx="256032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000" b="1">
                <a:solidFill>
                  <a:srgbClr val="FFFFFF"/>
                </a:solidFill>
                <a:latin typeface="DejaVu Sans"/>
              </a:defRPr>
            </a:pPr>
            <a:r>
              <a:t>02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3904488"/>
            <a:ext cx="8229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100" b="0">
                <a:solidFill>
                  <a:srgbClr val="566E74"/>
                </a:solidFill>
                <a:latin typeface="DejaVu Sans"/>
              </a:defRPr>
            </a:pPr>
            <a:r>
              <a:t>5–7s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746504" y="3447288"/>
            <a:ext cx="2770632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200" b="1">
                <a:solidFill>
                  <a:srgbClr val="16313A"/>
                </a:solidFill>
                <a:latin typeface="DejaVu Sans"/>
              </a:defRPr>
            </a:pPr>
            <a:r>
              <a:t>PESSOA + CAIXA DE PERGUNTAS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746504" y="3749039"/>
            <a:ext cx="2770632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150" b="0">
                <a:solidFill>
                  <a:srgbClr val="566E74"/>
                </a:solidFill>
                <a:latin typeface="DejaVu Sans"/>
              </a:defRPr>
            </a:pPr>
            <a:r>
              <a:t>Não cobrir o rosto nem a legenda.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91456" y="3465576"/>
            <a:ext cx="6473952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700" b="0">
                <a:solidFill>
                  <a:srgbClr val="203941"/>
                </a:solidFill>
                <a:latin typeface="DejaVu Sans"/>
              </a:defRPr>
            </a:pPr>
            <a:r>
              <a:t>“O que você gostaria de saber sobre a loja ou os produtos disponíveis?”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1792" y="4425696"/>
            <a:ext cx="10936224" cy="98755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777240" y="4581144"/>
            <a:ext cx="402336" cy="292608"/>
          </a:xfrm>
          <a:prstGeom prst="roundRect">
            <a:avLst>
              <a:gd name="adj" fmla="val 12000"/>
            </a:avLst>
          </a:prstGeom>
          <a:solidFill>
            <a:srgbClr val="087F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50392" y="4622292"/>
            <a:ext cx="256032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000" b="1">
                <a:solidFill>
                  <a:srgbClr val="FFFFFF"/>
                </a:solidFill>
                <a:latin typeface="DejaVu Sans"/>
              </a:defRPr>
            </a:pPr>
            <a:r>
              <a:t>03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7240" y="5020056"/>
            <a:ext cx="8229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100" b="0">
                <a:solidFill>
                  <a:srgbClr val="566E74"/>
                </a:solidFill>
                <a:latin typeface="DejaVu Sans"/>
              </a:defRPr>
            </a:pPr>
            <a:r>
              <a:t>5–7s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746504" y="4562856"/>
            <a:ext cx="2770632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200" b="1">
                <a:solidFill>
                  <a:srgbClr val="16313A"/>
                </a:solidFill>
                <a:latin typeface="DejaVu Sans"/>
              </a:defRPr>
            </a:pPr>
            <a:r>
              <a:t>PESSOA OU IMAGENS DA LOJA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746504" y="4864608"/>
            <a:ext cx="2770632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150" b="0">
                <a:solidFill>
                  <a:srgbClr val="566E74"/>
                </a:solidFill>
                <a:latin typeface="DejaVu Sans"/>
              </a:defRPr>
            </a:pPr>
            <a:r>
              <a:t>Dar exemplos para facilitar.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791456" y="4581144"/>
            <a:ext cx="6473952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700" b="0">
                <a:solidFill>
                  <a:srgbClr val="203941"/>
                </a:solidFill>
                <a:latin typeface="DejaVu Sans"/>
              </a:defRPr>
            </a:pPr>
            <a:r>
              <a:t>“Pode perguntar sobre localização, atendimento ou como consultar um produto.”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48640" y="5879592"/>
            <a:ext cx="11082528" cy="365760"/>
          </a:xfrm>
          <a:prstGeom prst="roundRect">
            <a:avLst>
              <a:gd name="adj" fmla="val 12000"/>
            </a:avLst>
          </a:prstGeom>
          <a:solidFill>
            <a:srgbClr val="E3E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94944" y="5952744"/>
            <a:ext cx="1078992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100" b="1">
                <a:solidFill>
                  <a:srgbClr val="087F83"/>
                </a:solidFill>
                <a:latin typeface="DejaVu Sans"/>
              </a:defRPr>
            </a:pPr>
            <a:r>
              <a:t>Adicionar a caixa de perguntas e separar as respostas por assunto.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000" b="1">
                <a:solidFill>
                  <a:srgbClr val="087F83"/>
                </a:solidFill>
                <a:latin typeface="DejaVu Sans"/>
              </a:defRPr>
            </a:pPr>
            <a:r>
              <a:t>CENTRAL SUPLEMENTOS  /  NOVEMBRO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13232"/>
            <a:ext cx="1106424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2900" b="1">
                <a:solidFill>
                  <a:srgbClr val="16313A"/>
                </a:solidFill>
                <a:latin typeface="DejaVu Sans"/>
              </a:defRPr>
            </a:pPr>
            <a:r>
              <a:t>19/11 · Central por dentro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128016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300" b="0">
                <a:solidFill>
                  <a:srgbClr val="566E74"/>
                </a:solidFill>
                <a:latin typeface="DejaVu Sans"/>
              </a:defRPr>
            </a:pPr>
            <a:r>
              <a:t>Reel · aprox. 18–20s  •  Takes numerados + falas sugeridas  •  A pessoa pode adaptar as palavras sem alterar as informações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428232"/>
            <a:ext cx="11173968" cy="10972"/>
          </a:xfrm>
          <a:prstGeom prst="rect">
            <a:avLst/>
          </a:prstGeom>
          <a:solidFill>
            <a:srgbClr val="D7E2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21207" y="6537960"/>
            <a:ext cx="914400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800" b="0">
                <a:solidFill>
                  <a:srgbClr val="566E74"/>
                </a:solidFill>
                <a:latin typeface="DejaVu Sans"/>
              </a:defRPr>
            </a:pPr>
            <a:r>
              <a:t>Plano operacional • Layout de trabalho: aplicar identidade oficial antes de publicar.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82528" y="6501384"/>
            <a:ext cx="54864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700"/>
              </a:spcAft>
              <a:defRPr sz="1100" b="1">
                <a:solidFill>
                  <a:srgbClr val="087F83"/>
                </a:solidFill>
                <a:latin typeface="DejaVu Sans"/>
              </a:defRPr>
            </a:pPr>
            <a:r>
              <a:t>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7512" y="1810512"/>
            <a:ext cx="8229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000" b="1">
                <a:solidFill>
                  <a:srgbClr val="087F83"/>
                </a:solidFill>
                <a:latin typeface="DejaVu Sans"/>
              </a:defRPr>
            </a:pPr>
            <a:r>
              <a:t>TAKE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46504" y="1810512"/>
            <a:ext cx="27889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000" b="1">
                <a:solidFill>
                  <a:srgbClr val="087F83"/>
                </a:solidFill>
                <a:latin typeface="DejaVu Sans"/>
              </a:defRPr>
            </a:pPr>
            <a:r>
              <a:t>O QUE GRAVAR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91456" y="1810512"/>
            <a:ext cx="64922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000" b="1">
                <a:solidFill>
                  <a:srgbClr val="087F83"/>
                </a:solidFill>
                <a:latin typeface="DejaVu Sans"/>
              </a:defRPr>
            </a:pPr>
            <a:r>
              <a:t>FALA SUGERIDA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" y="2103120"/>
            <a:ext cx="10936224" cy="83210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77240" y="2258568"/>
            <a:ext cx="402336" cy="292608"/>
          </a:xfrm>
          <a:prstGeom prst="roundRect">
            <a:avLst>
              <a:gd name="adj" fmla="val 12000"/>
            </a:avLst>
          </a:prstGeom>
          <a:solidFill>
            <a:srgbClr val="087F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0392" y="2299715"/>
            <a:ext cx="256032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000" b="1">
                <a:solidFill>
                  <a:srgbClr val="FFFFFF"/>
                </a:solidFill>
                <a:latin typeface="DejaVu Sans"/>
              </a:defRPr>
            </a:pPr>
            <a:r>
              <a:t>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2697479"/>
            <a:ext cx="8229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100" b="0">
                <a:solidFill>
                  <a:srgbClr val="566E74"/>
                </a:solidFill>
                <a:latin typeface="DejaVu Sans"/>
              </a:defRPr>
            </a:pPr>
            <a:r>
              <a:t>0–4s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46504" y="2240279"/>
            <a:ext cx="2770632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200" b="1">
                <a:solidFill>
                  <a:srgbClr val="16313A"/>
                </a:solidFill>
                <a:latin typeface="DejaVu Sans"/>
              </a:defRPr>
            </a:pPr>
            <a:r>
              <a:t>PESSOA CONVIDANDO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46504" y="2542032"/>
            <a:ext cx="2770632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150" b="0">
                <a:solidFill>
                  <a:srgbClr val="566E74"/>
                </a:solidFill>
                <a:latin typeface="DejaVu Sans"/>
              </a:defRPr>
            </a:pPr>
            <a:r>
              <a:t>Plano médio na loja.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91456" y="2258568"/>
            <a:ext cx="6473952" cy="6309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700" b="0">
                <a:solidFill>
                  <a:srgbClr val="203941"/>
                </a:solidFill>
                <a:latin typeface="DejaVu Sans"/>
              </a:defRPr>
            </a:pPr>
            <a:r>
              <a:t>“Vem ver um pouco da Central por dentro.”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" y="3035808"/>
            <a:ext cx="10936224" cy="83210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777240" y="3191256"/>
            <a:ext cx="402336" cy="292608"/>
          </a:xfrm>
          <a:prstGeom prst="roundRect">
            <a:avLst>
              <a:gd name="adj" fmla="val 12000"/>
            </a:avLst>
          </a:prstGeom>
          <a:solidFill>
            <a:srgbClr val="087F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50392" y="3232403"/>
            <a:ext cx="256032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000" b="1">
                <a:solidFill>
                  <a:srgbClr val="FFFFFF"/>
                </a:solidFill>
                <a:latin typeface="DejaVu Sans"/>
              </a:defRPr>
            </a:pPr>
            <a:r>
              <a:t>02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3630168"/>
            <a:ext cx="8229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100" b="0">
                <a:solidFill>
                  <a:srgbClr val="566E74"/>
                </a:solidFill>
                <a:latin typeface="DejaVu Sans"/>
              </a:defRPr>
            </a:pPr>
            <a:r>
              <a:t>4–9s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746504" y="3172968"/>
            <a:ext cx="2770632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200" b="1">
                <a:solidFill>
                  <a:srgbClr val="16313A"/>
                </a:solidFill>
                <a:latin typeface="DejaVu Sans"/>
              </a:defRPr>
            </a:pPr>
            <a:r>
              <a:t>MÃOS ORGANIZANDO PRODUTOS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746504" y="3474720"/>
            <a:ext cx="2770632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150" b="0">
                <a:solidFill>
                  <a:srgbClr val="566E74"/>
                </a:solidFill>
                <a:latin typeface="DejaVu Sans"/>
              </a:defRPr>
            </a:pPr>
            <a:r>
              <a:t>A pessoa continua narrando.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91456" y="3191256"/>
            <a:ext cx="6473952" cy="6309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700" b="0">
                <a:solidFill>
                  <a:srgbClr val="203941"/>
                </a:solidFill>
                <a:latin typeface="DejaVu Sans"/>
              </a:defRPr>
            </a:pPr>
            <a:r>
              <a:t>“Por aqui, a equipe organiza os produtos e as prateleiras.”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1792" y="3968496"/>
            <a:ext cx="10936224" cy="83210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777240" y="4123944"/>
            <a:ext cx="402336" cy="292608"/>
          </a:xfrm>
          <a:prstGeom prst="roundRect">
            <a:avLst>
              <a:gd name="adj" fmla="val 12000"/>
            </a:avLst>
          </a:prstGeom>
          <a:solidFill>
            <a:srgbClr val="087F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50392" y="4165091"/>
            <a:ext cx="256032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000" b="1">
                <a:solidFill>
                  <a:srgbClr val="FFFFFF"/>
                </a:solidFill>
                <a:latin typeface="DejaVu Sans"/>
              </a:defRPr>
            </a:pPr>
            <a:r>
              <a:t>03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7240" y="4562856"/>
            <a:ext cx="8229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100" b="0">
                <a:solidFill>
                  <a:srgbClr val="566E74"/>
                </a:solidFill>
                <a:latin typeface="DejaVu Sans"/>
              </a:defRPr>
            </a:pPr>
            <a:r>
              <a:t>9–14s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746504" y="4105656"/>
            <a:ext cx="2770632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200" b="1">
                <a:solidFill>
                  <a:srgbClr val="16313A"/>
                </a:solidFill>
                <a:latin typeface="DejaVu Sans"/>
              </a:defRPr>
            </a:pPr>
            <a:r>
              <a:t>DETALHES DO INTERIOR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746504" y="4407408"/>
            <a:ext cx="2770632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150" b="0">
                <a:solidFill>
                  <a:srgbClr val="566E74"/>
                </a:solidFill>
                <a:latin typeface="DejaVu Sans"/>
              </a:defRPr>
            </a:pPr>
            <a:r>
              <a:t>Mostrar dois ou três apoios.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791456" y="4123944"/>
            <a:ext cx="6473952" cy="6309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700" b="0">
                <a:solidFill>
                  <a:srgbClr val="203941"/>
                </a:solidFill>
                <a:latin typeface="DejaVu Sans"/>
              </a:defRPr>
            </a:pPr>
            <a:r>
              <a:t>“Assim você conhece um pouco do nosso dia a dia.”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21792" y="4901183"/>
            <a:ext cx="10936224" cy="83210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777240" y="5056631"/>
            <a:ext cx="402336" cy="292608"/>
          </a:xfrm>
          <a:prstGeom prst="roundRect">
            <a:avLst>
              <a:gd name="adj" fmla="val 12000"/>
            </a:avLst>
          </a:prstGeom>
          <a:solidFill>
            <a:srgbClr val="087F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50392" y="5097779"/>
            <a:ext cx="256032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000" b="1">
                <a:solidFill>
                  <a:srgbClr val="FFFFFF"/>
                </a:solidFill>
                <a:latin typeface="DejaVu Sans"/>
              </a:defRPr>
            </a:pPr>
            <a:r>
              <a:t>04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77240" y="5495544"/>
            <a:ext cx="8229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100" b="0">
                <a:solidFill>
                  <a:srgbClr val="566E74"/>
                </a:solidFill>
                <a:latin typeface="DejaVu Sans"/>
              </a:defRPr>
            </a:pPr>
            <a:r>
              <a:t>14–20s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746504" y="5038344"/>
            <a:ext cx="2770632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200" b="1">
                <a:solidFill>
                  <a:srgbClr val="16313A"/>
                </a:solidFill>
                <a:latin typeface="DejaVu Sans"/>
              </a:defRPr>
            </a:pPr>
            <a:r>
              <a:t>PESSOA À CÂMERA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746504" y="5340096"/>
            <a:ext cx="2770632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150" b="0">
                <a:solidFill>
                  <a:srgbClr val="566E74"/>
                </a:solidFill>
                <a:latin typeface="DejaVu Sans"/>
              </a:defRPr>
            </a:pPr>
            <a:r>
              <a:t>Fechar com o convite.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791456" y="5056631"/>
            <a:ext cx="6473952" cy="6309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700" b="0">
                <a:solidFill>
                  <a:srgbClr val="203941"/>
                </a:solidFill>
                <a:latin typeface="DejaVu Sans"/>
              </a:defRPr>
            </a:pPr>
            <a:r>
              <a:t>“Salve para lembrar de visitar a loja na próxima ida ao Mercado Central.”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48640" y="5879592"/>
            <a:ext cx="11082528" cy="365760"/>
          </a:xfrm>
          <a:prstGeom prst="roundRect">
            <a:avLst>
              <a:gd name="adj" fmla="val 12000"/>
            </a:avLst>
          </a:prstGeom>
          <a:solidFill>
            <a:srgbClr val="E3E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94944" y="5952744"/>
            <a:ext cx="1078992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100" b="1">
                <a:solidFill>
                  <a:srgbClr val="087F83"/>
                </a:solidFill>
                <a:latin typeface="DejaVu Sans"/>
              </a:defRPr>
            </a:pPr>
            <a:r>
              <a:t>Evitar clientes, telas de atendimento e informações de pedidos sem autorização.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000" b="1">
                <a:solidFill>
                  <a:srgbClr val="087F83"/>
                </a:solidFill>
                <a:latin typeface="DejaVu Sans"/>
              </a:defRPr>
            </a:pPr>
            <a:r>
              <a:t>CENTRAL SUPLEMENTOS  /  NOVEMBRO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13232"/>
            <a:ext cx="1106424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2900" b="1">
                <a:solidFill>
                  <a:srgbClr val="16313A"/>
                </a:solidFill>
                <a:latin typeface="DejaVu Sans"/>
              </a:defRPr>
            </a:pPr>
            <a:r>
              <a:t>21/11 · Como consultar um produto?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128016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300" b="0">
                <a:solidFill>
                  <a:srgbClr val="566E74"/>
                </a:solidFill>
                <a:latin typeface="DejaVu Sans"/>
              </a:defRPr>
            </a:pPr>
            <a:r>
              <a:t>Stories · 3 partes  •  Takes numerados + falas sugeridas  •  A pessoa pode adaptar as palavras sem alterar as informações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428232"/>
            <a:ext cx="11173968" cy="10972"/>
          </a:xfrm>
          <a:prstGeom prst="rect">
            <a:avLst/>
          </a:prstGeom>
          <a:solidFill>
            <a:srgbClr val="D7E2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21207" y="6537960"/>
            <a:ext cx="914400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800" b="0">
                <a:solidFill>
                  <a:srgbClr val="566E74"/>
                </a:solidFill>
                <a:latin typeface="DejaVu Sans"/>
              </a:defRPr>
            </a:pPr>
            <a:r>
              <a:t>Plano operacional • Layout de trabalho: aplicar identidade oficial antes de publicar.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82528" y="6501384"/>
            <a:ext cx="54864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700"/>
              </a:spcAft>
              <a:defRPr sz="1100" b="1">
                <a:solidFill>
                  <a:srgbClr val="087F83"/>
                </a:solidFill>
                <a:latin typeface="DejaVu Sans"/>
              </a:defRPr>
            </a:pPr>
            <a:r>
              <a:t>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7512" y="1810512"/>
            <a:ext cx="8229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000" b="1">
                <a:solidFill>
                  <a:srgbClr val="087F83"/>
                </a:solidFill>
                <a:latin typeface="DejaVu Sans"/>
              </a:defRPr>
            </a:pPr>
            <a:r>
              <a:t>TAKE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46504" y="1810512"/>
            <a:ext cx="27889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000" b="1">
                <a:solidFill>
                  <a:srgbClr val="087F83"/>
                </a:solidFill>
                <a:latin typeface="DejaVu Sans"/>
              </a:defRPr>
            </a:pPr>
            <a:r>
              <a:t>O QUE GRAVAR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91456" y="1810512"/>
            <a:ext cx="64922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000" b="1">
                <a:solidFill>
                  <a:srgbClr val="087F83"/>
                </a:solidFill>
                <a:latin typeface="DejaVu Sans"/>
              </a:defRPr>
            </a:pPr>
            <a:r>
              <a:t>FALA SUGERIDA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" y="2194560"/>
            <a:ext cx="10936224" cy="98755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77240" y="2350008"/>
            <a:ext cx="402336" cy="292608"/>
          </a:xfrm>
          <a:prstGeom prst="roundRect">
            <a:avLst>
              <a:gd name="adj" fmla="val 12000"/>
            </a:avLst>
          </a:prstGeom>
          <a:solidFill>
            <a:srgbClr val="087F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0392" y="2391156"/>
            <a:ext cx="256032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000" b="1">
                <a:solidFill>
                  <a:srgbClr val="FFFFFF"/>
                </a:solidFill>
                <a:latin typeface="DejaVu Sans"/>
              </a:defRPr>
            </a:pPr>
            <a:r>
              <a:t>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2788920"/>
            <a:ext cx="8229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100" b="0">
                <a:solidFill>
                  <a:srgbClr val="566E74"/>
                </a:solidFill>
                <a:latin typeface="DejaVu Sans"/>
              </a:defRPr>
            </a:pPr>
            <a:r>
              <a:t>4–6s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46504" y="2331720"/>
            <a:ext cx="2770632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200" b="1">
                <a:solidFill>
                  <a:srgbClr val="16313A"/>
                </a:solidFill>
                <a:latin typeface="DejaVu Sans"/>
              </a:defRPr>
            </a:pPr>
            <a:r>
              <a:t>PESSOA APRESENTA A DÚVIDA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46504" y="2633472"/>
            <a:ext cx="2770632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150" b="0">
                <a:solidFill>
                  <a:srgbClr val="566E74"/>
                </a:solidFill>
                <a:latin typeface="DejaVu Sans"/>
              </a:defRPr>
            </a:pPr>
            <a:r>
              <a:t>Pergunta também pode aparecer na tela.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91456" y="2350008"/>
            <a:ext cx="6473952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700" b="0">
                <a:solidFill>
                  <a:srgbClr val="203941"/>
                </a:solidFill>
                <a:latin typeface="DejaVu Sans"/>
              </a:defRPr>
            </a:pPr>
            <a:r>
              <a:t>“Quer saber se temos um produto disponível?”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" y="3310128"/>
            <a:ext cx="10936224" cy="98755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777240" y="3465576"/>
            <a:ext cx="402336" cy="292608"/>
          </a:xfrm>
          <a:prstGeom prst="roundRect">
            <a:avLst>
              <a:gd name="adj" fmla="val 12000"/>
            </a:avLst>
          </a:prstGeom>
          <a:solidFill>
            <a:srgbClr val="087F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50392" y="3506724"/>
            <a:ext cx="256032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000" b="1">
                <a:solidFill>
                  <a:srgbClr val="FFFFFF"/>
                </a:solidFill>
                <a:latin typeface="DejaVu Sans"/>
              </a:defRPr>
            </a:pPr>
            <a:r>
              <a:t>02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3904488"/>
            <a:ext cx="8229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100" b="0">
                <a:solidFill>
                  <a:srgbClr val="566E74"/>
                </a:solidFill>
                <a:latin typeface="DejaVu Sans"/>
              </a:defRPr>
            </a:pPr>
            <a:r>
              <a:t>5–8s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746504" y="3447288"/>
            <a:ext cx="2770632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200" b="1">
                <a:solidFill>
                  <a:srgbClr val="16313A"/>
                </a:solidFill>
                <a:latin typeface="DejaVu Sans"/>
              </a:defRPr>
            </a:pPr>
            <a:r>
              <a:t>PESSOA OU PRODUTO COMO EXEMPLO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746504" y="3749039"/>
            <a:ext cx="2770632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150" b="0">
                <a:solidFill>
                  <a:srgbClr val="566E74"/>
                </a:solidFill>
                <a:latin typeface="DejaVu Sans"/>
              </a:defRPr>
            </a:pPr>
            <a:r>
              <a:t>Explicar o que enviar.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91456" y="3465576"/>
            <a:ext cx="6473952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700" b="0">
                <a:solidFill>
                  <a:srgbClr val="203941"/>
                </a:solidFill>
                <a:latin typeface="DejaVu Sans"/>
              </a:defRPr>
            </a:pPr>
            <a:r>
              <a:t>“Envie o nome e, se possível, a versão, o tamanho e o sabor que procura.”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1792" y="4425696"/>
            <a:ext cx="10936224" cy="98755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777240" y="4581144"/>
            <a:ext cx="402336" cy="292608"/>
          </a:xfrm>
          <a:prstGeom prst="roundRect">
            <a:avLst>
              <a:gd name="adj" fmla="val 12000"/>
            </a:avLst>
          </a:prstGeom>
          <a:solidFill>
            <a:srgbClr val="087F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50392" y="4622292"/>
            <a:ext cx="256032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000" b="1">
                <a:solidFill>
                  <a:srgbClr val="FFFFFF"/>
                </a:solidFill>
                <a:latin typeface="DejaVu Sans"/>
              </a:defRPr>
            </a:pPr>
            <a:r>
              <a:t>03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7240" y="5020056"/>
            <a:ext cx="8229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100" b="0">
                <a:solidFill>
                  <a:srgbClr val="566E74"/>
                </a:solidFill>
                <a:latin typeface="DejaVu Sans"/>
              </a:defRPr>
            </a:pPr>
            <a:r>
              <a:t>5–7s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746504" y="4562856"/>
            <a:ext cx="2770632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200" b="1">
                <a:solidFill>
                  <a:srgbClr val="16313A"/>
                </a:solidFill>
                <a:latin typeface="DejaVu Sans"/>
              </a:defRPr>
            </a:pPr>
            <a:r>
              <a:t>PESSOA + WHATSAPP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746504" y="4864608"/>
            <a:ext cx="2770632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150" b="0">
                <a:solidFill>
                  <a:srgbClr val="566E74"/>
                </a:solidFill>
                <a:latin typeface="DejaVu Sans"/>
              </a:defRPr>
            </a:pPr>
            <a:r>
              <a:t>Indicar o botão ou link.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791456" y="4581144"/>
            <a:ext cx="6473952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700" b="0">
                <a:solidFill>
                  <a:srgbClr val="203941"/>
                </a:solidFill>
                <a:latin typeface="DejaVu Sans"/>
              </a:defRPr>
            </a:pPr>
            <a:r>
              <a:t>“A equipe confere para você. Fale com a gente pelo WhatsApp, neste link.”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48640" y="5879592"/>
            <a:ext cx="11082528" cy="365760"/>
          </a:xfrm>
          <a:prstGeom prst="roundRect">
            <a:avLst>
              <a:gd name="adj" fmla="val 12000"/>
            </a:avLst>
          </a:prstGeom>
          <a:solidFill>
            <a:srgbClr val="E3E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94944" y="5952744"/>
            <a:ext cx="1078992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100" b="1">
                <a:solidFill>
                  <a:srgbClr val="087F83"/>
                </a:solidFill>
                <a:latin typeface="DejaVu Sans"/>
              </a:defRPr>
            </a:pPr>
            <a:r>
              <a:t>Pode substituir por uma dúvida comercial recebida. Testar o WhatsApp oficial antes de publicar.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000" b="1">
                <a:solidFill>
                  <a:srgbClr val="087F83"/>
                </a:solidFill>
                <a:latin typeface="DejaVu Sans"/>
              </a:defRPr>
            </a:pPr>
            <a:r>
              <a:t>CENTRAL SUPLEMENTOS  /  NOVEMBRO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13232"/>
            <a:ext cx="1106424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2900" b="1">
                <a:solidFill>
                  <a:srgbClr val="16313A"/>
                </a:solidFill>
                <a:latin typeface="DejaVu Sans"/>
              </a:defRPr>
            </a:pPr>
            <a:r>
              <a:t>24/11 · Vou mostrar o caminho no site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128016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300" b="0">
                <a:solidFill>
                  <a:srgbClr val="566E74"/>
                </a:solidFill>
                <a:latin typeface="DejaVu Sans"/>
              </a:defRPr>
            </a:pPr>
            <a:r>
              <a:t>Stories · 3 partes  •  Takes numerados + falas sugeridas  •  A pessoa pode adaptar as palavras sem alterar as informações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428232"/>
            <a:ext cx="11173968" cy="10972"/>
          </a:xfrm>
          <a:prstGeom prst="rect">
            <a:avLst/>
          </a:prstGeom>
          <a:solidFill>
            <a:srgbClr val="D7E2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21207" y="6537960"/>
            <a:ext cx="914400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800" b="0">
                <a:solidFill>
                  <a:srgbClr val="566E74"/>
                </a:solidFill>
                <a:latin typeface="DejaVu Sans"/>
              </a:defRPr>
            </a:pPr>
            <a:r>
              <a:t>Plano operacional • Layout de trabalho: aplicar identidade oficial antes de publicar.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82528" y="6501384"/>
            <a:ext cx="54864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700"/>
              </a:spcAft>
              <a:defRPr sz="1100" b="1">
                <a:solidFill>
                  <a:srgbClr val="087F83"/>
                </a:solidFill>
                <a:latin typeface="DejaVu Sans"/>
              </a:defRPr>
            </a:pPr>
            <a:r>
              <a:t>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7512" y="1810512"/>
            <a:ext cx="8229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000" b="1">
                <a:solidFill>
                  <a:srgbClr val="087F83"/>
                </a:solidFill>
                <a:latin typeface="DejaVu Sans"/>
              </a:defRPr>
            </a:pPr>
            <a:r>
              <a:t>TAKE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46504" y="1810512"/>
            <a:ext cx="27889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000" b="1">
                <a:solidFill>
                  <a:srgbClr val="087F83"/>
                </a:solidFill>
                <a:latin typeface="DejaVu Sans"/>
              </a:defRPr>
            </a:pPr>
            <a:r>
              <a:t>O QUE GRAVAR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91456" y="1810512"/>
            <a:ext cx="64922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000" b="1">
                <a:solidFill>
                  <a:srgbClr val="087F83"/>
                </a:solidFill>
                <a:latin typeface="DejaVu Sans"/>
              </a:defRPr>
            </a:pPr>
            <a:r>
              <a:t>FALA SUGERIDA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" y="2194560"/>
            <a:ext cx="10936224" cy="98755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77240" y="2350008"/>
            <a:ext cx="402336" cy="292608"/>
          </a:xfrm>
          <a:prstGeom prst="roundRect">
            <a:avLst>
              <a:gd name="adj" fmla="val 12000"/>
            </a:avLst>
          </a:prstGeom>
          <a:solidFill>
            <a:srgbClr val="087F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0392" y="2391156"/>
            <a:ext cx="256032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000" b="1">
                <a:solidFill>
                  <a:srgbClr val="FFFFFF"/>
                </a:solidFill>
                <a:latin typeface="DejaVu Sans"/>
              </a:defRPr>
            </a:pPr>
            <a:r>
              <a:t>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2788920"/>
            <a:ext cx="8229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100" b="0">
                <a:solidFill>
                  <a:srgbClr val="566E74"/>
                </a:solidFill>
                <a:latin typeface="DejaVu Sans"/>
              </a:defRPr>
            </a:pPr>
            <a:r>
              <a:t>4–6s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46504" y="2331720"/>
            <a:ext cx="2770632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200" b="1">
                <a:solidFill>
                  <a:srgbClr val="16313A"/>
                </a:solidFill>
                <a:latin typeface="DejaVu Sans"/>
              </a:defRPr>
            </a:pPr>
            <a:r>
              <a:t>PESSOA APRESENTA O SITE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46504" y="2633472"/>
            <a:ext cx="2770632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150" b="0">
                <a:solidFill>
                  <a:srgbClr val="566E74"/>
                </a:solidFill>
                <a:latin typeface="DejaVu Sans"/>
              </a:defRPr>
            </a:pPr>
            <a:r>
              <a:t>Introdução antes de mostrar a tela.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91456" y="2350008"/>
            <a:ext cx="6473952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700" b="0">
                <a:solidFill>
                  <a:srgbClr val="203941"/>
                </a:solidFill>
                <a:latin typeface="DejaVu Sans"/>
              </a:defRPr>
            </a:pPr>
            <a:r>
              <a:t>“Quer conhecer as opções no site? Vou mostrar o caminho.”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" y="3310128"/>
            <a:ext cx="10936224" cy="98755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777240" y="3465576"/>
            <a:ext cx="402336" cy="292608"/>
          </a:xfrm>
          <a:prstGeom prst="roundRect">
            <a:avLst>
              <a:gd name="adj" fmla="val 12000"/>
            </a:avLst>
          </a:prstGeom>
          <a:solidFill>
            <a:srgbClr val="087F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50392" y="3506724"/>
            <a:ext cx="256032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000" b="1">
                <a:solidFill>
                  <a:srgbClr val="FFFFFF"/>
                </a:solidFill>
                <a:latin typeface="DejaVu Sans"/>
              </a:defRPr>
            </a:pPr>
            <a:r>
              <a:t>02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3904488"/>
            <a:ext cx="8229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100" b="0">
                <a:solidFill>
                  <a:srgbClr val="566E74"/>
                </a:solidFill>
                <a:latin typeface="DejaVu Sans"/>
              </a:defRPr>
            </a:pPr>
            <a:r>
              <a:t>6–9s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746504" y="3447288"/>
            <a:ext cx="2770632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200" b="1">
                <a:solidFill>
                  <a:srgbClr val="16313A"/>
                </a:solidFill>
                <a:latin typeface="DejaVu Sans"/>
              </a:defRPr>
            </a:pPr>
            <a:r>
              <a:t>GRAVAÇÃO DE TELA + NARRAÇÃO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746504" y="3749039"/>
            <a:ext cx="2770632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150" b="0">
                <a:solidFill>
                  <a:srgbClr val="566E74"/>
                </a:solidFill>
                <a:latin typeface="DejaVu Sans"/>
              </a:defRPr>
            </a:pPr>
            <a:r>
              <a:t>Categoria → produto → informações.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91456" y="3465576"/>
            <a:ext cx="6473952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700" b="0">
                <a:solidFill>
                  <a:srgbClr val="203941"/>
                </a:solidFill>
                <a:latin typeface="DejaVu Sans"/>
              </a:defRPr>
            </a:pPr>
            <a:r>
              <a:t>“Entre na categoria, abra um produto e confira as informações.”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1792" y="4425696"/>
            <a:ext cx="10936224" cy="98755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777240" y="4581144"/>
            <a:ext cx="402336" cy="292608"/>
          </a:xfrm>
          <a:prstGeom prst="roundRect">
            <a:avLst>
              <a:gd name="adj" fmla="val 12000"/>
            </a:avLst>
          </a:prstGeom>
          <a:solidFill>
            <a:srgbClr val="087F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50392" y="4622292"/>
            <a:ext cx="256032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000" b="1">
                <a:solidFill>
                  <a:srgbClr val="FFFFFF"/>
                </a:solidFill>
                <a:latin typeface="DejaVu Sans"/>
              </a:defRPr>
            </a:pPr>
            <a:r>
              <a:t>03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7240" y="5020056"/>
            <a:ext cx="8229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100" b="0">
                <a:solidFill>
                  <a:srgbClr val="566E74"/>
                </a:solidFill>
                <a:latin typeface="DejaVu Sans"/>
              </a:defRPr>
            </a:pPr>
            <a:r>
              <a:t>5–7s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746504" y="4562856"/>
            <a:ext cx="2770632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200" b="1">
                <a:solidFill>
                  <a:srgbClr val="16313A"/>
                </a:solidFill>
                <a:latin typeface="DejaVu Sans"/>
              </a:defRPr>
            </a:pPr>
            <a:r>
              <a:t>PESSOA OU TELA DO SITE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746504" y="4864608"/>
            <a:ext cx="2770632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150" b="0">
                <a:solidFill>
                  <a:srgbClr val="566E74"/>
                </a:solidFill>
                <a:latin typeface="DejaVu Sans"/>
              </a:defRPr>
            </a:pPr>
            <a:r>
              <a:t>Fechar e adicionar o link.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791456" y="4581144"/>
            <a:ext cx="6473952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700" b="0">
                <a:solidFill>
                  <a:srgbClr val="203941"/>
                </a:solidFill>
                <a:latin typeface="DejaVu Sans"/>
              </a:defRPr>
            </a:pPr>
            <a:r>
              <a:t>“Deixei o link da categoria aqui para você explorar no seu ritmo.”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48640" y="5879592"/>
            <a:ext cx="11082528" cy="365760"/>
          </a:xfrm>
          <a:prstGeom prst="roundRect">
            <a:avLst>
              <a:gd name="adj" fmla="val 12000"/>
            </a:avLst>
          </a:prstGeom>
          <a:solidFill>
            <a:srgbClr val="E3E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94944" y="5952744"/>
            <a:ext cx="1078992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100" b="1">
                <a:solidFill>
                  <a:srgbClr val="087F83"/>
                </a:solidFill>
                <a:latin typeface="DejaVu Sans"/>
              </a:defRPr>
            </a:pPr>
            <a:r>
              <a:t>Gravar sem notificações ou dados pessoais. Usar rolagem lenta e testar o link da categoria.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000" b="1">
                <a:solidFill>
                  <a:srgbClr val="087F83"/>
                </a:solidFill>
                <a:latin typeface="DejaVu Sans"/>
              </a:defRPr>
            </a:pPr>
            <a:r>
              <a:t>CENTRAL SUPLEMENTOS  /  NOVEMBRO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13232"/>
            <a:ext cx="1106424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2900" b="1">
                <a:solidFill>
                  <a:srgbClr val="16313A"/>
                </a:solidFill>
                <a:latin typeface="DejaVu Sans"/>
              </a:defRPr>
            </a:pPr>
            <a:r>
              <a:t>26/11 · Como você prefere conhecer a Central?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128016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300" b="0">
                <a:solidFill>
                  <a:srgbClr val="566E74"/>
                </a:solidFill>
                <a:latin typeface="DejaVu Sans"/>
              </a:defRPr>
            </a:pPr>
            <a:r>
              <a:t>Reel · aprox. 22s  •  Takes numerados + falas sugeridas  •  A pessoa pode adaptar as palavras sem alterar as informações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428232"/>
            <a:ext cx="11173968" cy="10972"/>
          </a:xfrm>
          <a:prstGeom prst="rect">
            <a:avLst/>
          </a:prstGeom>
          <a:solidFill>
            <a:srgbClr val="D7E2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21207" y="6537960"/>
            <a:ext cx="914400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800" b="0">
                <a:solidFill>
                  <a:srgbClr val="566E74"/>
                </a:solidFill>
                <a:latin typeface="DejaVu Sans"/>
              </a:defRPr>
            </a:pPr>
            <a:r>
              <a:t>Plano operacional • Layout de trabalho: aplicar identidade oficial antes de publicar.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82528" y="6501384"/>
            <a:ext cx="54864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700"/>
              </a:spcAft>
              <a:defRPr sz="1100" b="1">
                <a:solidFill>
                  <a:srgbClr val="087F83"/>
                </a:solidFill>
                <a:latin typeface="DejaVu Sans"/>
              </a:defRPr>
            </a:pPr>
            <a:r>
              <a:t>14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7512" y="1810512"/>
            <a:ext cx="8229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000" b="1">
                <a:solidFill>
                  <a:srgbClr val="087F83"/>
                </a:solidFill>
                <a:latin typeface="DejaVu Sans"/>
              </a:defRPr>
            </a:pPr>
            <a:r>
              <a:t>TAKE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46504" y="1810512"/>
            <a:ext cx="27889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000" b="1">
                <a:solidFill>
                  <a:srgbClr val="087F83"/>
                </a:solidFill>
                <a:latin typeface="DejaVu Sans"/>
              </a:defRPr>
            </a:pPr>
            <a:r>
              <a:t>O QUE GRAVAR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91456" y="1810512"/>
            <a:ext cx="64922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000" b="1">
                <a:solidFill>
                  <a:srgbClr val="087F83"/>
                </a:solidFill>
                <a:latin typeface="DejaVu Sans"/>
              </a:defRPr>
            </a:pPr>
            <a:r>
              <a:t>FALA SUGERIDA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" y="2103120"/>
            <a:ext cx="10936224" cy="83210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77240" y="2258568"/>
            <a:ext cx="402336" cy="292608"/>
          </a:xfrm>
          <a:prstGeom prst="roundRect">
            <a:avLst>
              <a:gd name="adj" fmla="val 12000"/>
            </a:avLst>
          </a:prstGeom>
          <a:solidFill>
            <a:srgbClr val="087F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0392" y="2299715"/>
            <a:ext cx="256032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000" b="1">
                <a:solidFill>
                  <a:srgbClr val="FFFFFF"/>
                </a:solidFill>
                <a:latin typeface="DejaVu Sans"/>
              </a:defRPr>
            </a:pPr>
            <a:r>
              <a:t>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2697479"/>
            <a:ext cx="8229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100" b="0">
                <a:solidFill>
                  <a:srgbClr val="566E74"/>
                </a:solidFill>
                <a:latin typeface="DejaVu Sans"/>
              </a:defRPr>
            </a:pPr>
            <a:r>
              <a:t>0–4s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46504" y="2240279"/>
            <a:ext cx="2770632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200" b="1">
                <a:solidFill>
                  <a:srgbClr val="16313A"/>
                </a:solidFill>
                <a:latin typeface="DejaVu Sans"/>
              </a:defRPr>
            </a:pPr>
            <a:r>
              <a:t>PESSOA À CÂMERA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46504" y="2542032"/>
            <a:ext cx="2770632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150" b="0">
                <a:solidFill>
                  <a:srgbClr val="566E74"/>
                </a:solidFill>
                <a:latin typeface="DejaVu Sans"/>
              </a:defRPr>
            </a:pPr>
            <a:r>
              <a:t>Abrir com uma pergunta.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91456" y="2258568"/>
            <a:ext cx="6473952" cy="6309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700" b="0">
                <a:solidFill>
                  <a:srgbClr val="203941"/>
                </a:solidFill>
                <a:latin typeface="DejaVu Sans"/>
              </a:defRPr>
            </a:pPr>
            <a:r>
              <a:t>“Como você prefere conhecer a Central?”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" y="3035808"/>
            <a:ext cx="10936224" cy="83210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777240" y="3191256"/>
            <a:ext cx="402336" cy="292608"/>
          </a:xfrm>
          <a:prstGeom prst="roundRect">
            <a:avLst>
              <a:gd name="adj" fmla="val 12000"/>
            </a:avLst>
          </a:prstGeom>
          <a:solidFill>
            <a:srgbClr val="087F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50392" y="3232403"/>
            <a:ext cx="256032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000" b="1">
                <a:solidFill>
                  <a:srgbClr val="FFFFFF"/>
                </a:solidFill>
                <a:latin typeface="DejaVu Sans"/>
              </a:defRPr>
            </a:pPr>
            <a:r>
              <a:t>02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3630168"/>
            <a:ext cx="8229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100" b="0">
                <a:solidFill>
                  <a:srgbClr val="566E74"/>
                </a:solidFill>
                <a:latin typeface="DejaVu Sans"/>
              </a:defRPr>
            </a:pPr>
            <a:r>
              <a:t>4–9s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746504" y="3172968"/>
            <a:ext cx="2770632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200" b="1">
                <a:solidFill>
                  <a:srgbClr val="16313A"/>
                </a:solidFill>
                <a:latin typeface="DejaVu Sans"/>
              </a:defRPr>
            </a:pPr>
            <a:r>
              <a:t>PERFIL E BASTIDORES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746504" y="3474720"/>
            <a:ext cx="2770632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150" b="0">
                <a:solidFill>
                  <a:srgbClr val="566E74"/>
                </a:solidFill>
                <a:latin typeface="DejaVu Sans"/>
              </a:defRPr>
            </a:pPr>
            <a:r>
              <a:t>A voz continua sobre os apoios.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91456" y="3191256"/>
            <a:ext cx="6473952" cy="6309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700" b="0">
                <a:solidFill>
                  <a:srgbClr val="203941"/>
                </a:solidFill>
                <a:latin typeface="DejaVu Sans"/>
              </a:defRPr>
            </a:pPr>
            <a:r>
              <a:t>“No Instagram, você acompanha os produtos e os bastidores.”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1792" y="3968496"/>
            <a:ext cx="10936224" cy="83210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777240" y="4123944"/>
            <a:ext cx="402336" cy="292608"/>
          </a:xfrm>
          <a:prstGeom prst="roundRect">
            <a:avLst>
              <a:gd name="adj" fmla="val 12000"/>
            </a:avLst>
          </a:prstGeom>
          <a:solidFill>
            <a:srgbClr val="087F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50392" y="4165091"/>
            <a:ext cx="256032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000" b="1">
                <a:solidFill>
                  <a:srgbClr val="FFFFFF"/>
                </a:solidFill>
                <a:latin typeface="DejaVu Sans"/>
              </a:defRPr>
            </a:pPr>
            <a:r>
              <a:t>03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7240" y="4562856"/>
            <a:ext cx="8229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100" b="0">
                <a:solidFill>
                  <a:srgbClr val="566E74"/>
                </a:solidFill>
                <a:latin typeface="DejaVu Sans"/>
              </a:defRPr>
            </a:pPr>
            <a:r>
              <a:t>9–14s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746504" y="4105656"/>
            <a:ext cx="2770632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200" b="1">
                <a:solidFill>
                  <a:srgbClr val="16313A"/>
                </a:solidFill>
                <a:latin typeface="DejaVu Sans"/>
              </a:defRPr>
            </a:pPr>
            <a:r>
              <a:t>GRAVAÇÃO DO SITE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746504" y="4407408"/>
            <a:ext cx="2770632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150" b="0">
                <a:solidFill>
                  <a:srgbClr val="566E74"/>
                </a:solidFill>
                <a:latin typeface="DejaVu Sans"/>
              </a:defRPr>
            </a:pPr>
            <a:r>
              <a:t>Mostrar a categoria e um produto.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791456" y="4123944"/>
            <a:ext cx="6473952" cy="6309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700" b="0">
                <a:solidFill>
                  <a:srgbClr val="203941"/>
                </a:solidFill>
                <a:latin typeface="DejaVu Sans"/>
              </a:defRPr>
            </a:pPr>
            <a:r>
              <a:t>“No site, pode explorar as categorias e conferir os detalhes.”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21792" y="4901183"/>
            <a:ext cx="10936224" cy="83210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777240" y="5056631"/>
            <a:ext cx="402336" cy="292608"/>
          </a:xfrm>
          <a:prstGeom prst="roundRect">
            <a:avLst>
              <a:gd name="adj" fmla="val 12000"/>
            </a:avLst>
          </a:prstGeom>
          <a:solidFill>
            <a:srgbClr val="087F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50392" y="5097779"/>
            <a:ext cx="256032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000" b="1">
                <a:solidFill>
                  <a:srgbClr val="FFFFFF"/>
                </a:solidFill>
                <a:latin typeface="DejaVu Sans"/>
              </a:defRPr>
            </a:pPr>
            <a:r>
              <a:t>04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77240" y="5495544"/>
            <a:ext cx="8229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100" b="0">
                <a:solidFill>
                  <a:srgbClr val="566E74"/>
                </a:solidFill>
                <a:latin typeface="DejaVu Sans"/>
              </a:defRPr>
            </a:pPr>
            <a:r>
              <a:t>14–22s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746504" y="5038344"/>
            <a:ext cx="2770632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200" b="1">
                <a:solidFill>
                  <a:srgbClr val="16313A"/>
                </a:solidFill>
                <a:latin typeface="DejaVu Sans"/>
              </a:defRPr>
            </a:pPr>
            <a:r>
              <a:t>PESSOA NA LOJA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746504" y="5340096"/>
            <a:ext cx="2770632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150" b="0">
                <a:solidFill>
                  <a:srgbClr val="566E74"/>
                </a:solidFill>
                <a:latin typeface="DejaVu Sans"/>
              </a:defRPr>
            </a:pPr>
            <a:r>
              <a:t>Encerrar com os canais oficiais.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791456" y="5056631"/>
            <a:ext cx="6473952" cy="6309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700" b="0">
                <a:solidFill>
                  <a:srgbClr val="203941"/>
                </a:solidFill>
                <a:latin typeface="DejaVu Sans"/>
              </a:defRPr>
            </a:pPr>
            <a:r>
              <a:t>“Também dá para falar com a equipe pelo WhatsApp ou visitar a loja.”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48640" y="5879592"/>
            <a:ext cx="11082528" cy="365760"/>
          </a:xfrm>
          <a:prstGeom prst="roundRect">
            <a:avLst>
              <a:gd name="adj" fmla="val 12000"/>
            </a:avLst>
          </a:prstGeom>
          <a:solidFill>
            <a:srgbClr val="E3E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94944" y="5952744"/>
            <a:ext cx="1078992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100" b="1">
                <a:solidFill>
                  <a:srgbClr val="087F83"/>
                </a:solidFill>
                <a:latin typeface="DejaVu Sans"/>
              </a:defRPr>
            </a:pPr>
            <a:r>
              <a:t>Indicar os contatos oficiais. Descrição do post: “Escolha o caminho mais fácil para você.”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000" b="1">
                <a:solidFill>
                  <a:srgbClr val="087F83"/>
                </a:solidFill>
                <a:latin typeface="DejaVu Sans"/>
              </a:defRPr>
            </a:pPr>
            <a:r>
              <a:t>CENTRAL SUPLEMENTOS  /  NOVEMBRO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13232"/>
            <a:ext cx="1106424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2900" b="1">
                <a:solidFill>
                  <a:srgbClr val="16313A"/>
                </a:solidFill>
                <a:latin typeface="DejaVu Sans"/>
              </a:defRPr>
            </a:pPr>
            <a:r>
              <a:t>27/11 · Com promoção aprovada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128016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300" b="0">
                <a:solidFill>
                  <a:srgbClr val="566E74"/>
                </a:solidFill>
                <a:latin typeface="DejaVu Sans"/>
              </a:defRPr>
            </a:pPr>
            <a:r>
              <a:t>Stories · opção A  •  Takes numerados + falas sugeridas  •  A pessoa pode adaptar as palavras sem alterar as informações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428232"/>
            <a:ext cx="11173968" cy="10972"/>
          </a:xfrm>
          <a:prstGeom prst="rect">
            <a:avLst/>
          </a:prstGeom>
          <a:solidFill>
            <a:srgbClr val="D7E2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21207" y="6537960"/>
            <a:ext cx="914400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800" b="0">
                <a:solidFill>
                  <a:srgbClr val="566E74"/>
                </a:solidFill>
                <a:latin typeface="DejaVu Sans"/>
              </a:defRPr>
            </a:pPr>
            <a:r>
              <a:t>Plano operacional • Layout de trabalho: aplicar identidade oficial antes de publicar.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82528" y="6501384"/>
            <a:ext cx="54864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700"/>
              </a:spcAft>
              <a:defRPr sz="1100" b="1">
                <a:solidFill>
                  <a:srgbClr val="087F83"/>
                </a:solidFill>
                <a:latin typeface="DejaVu Sans"/>
              </a:defRPr>
            </a:pPr>
            <a:r>
              <a:t>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7512" y="1810512"/>
            <a:ext cx="8229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000" b="1">
                <a:solidFill>
                  <a:srgbClr val="087F83"/>
                </a:solidFill>
                <a:latin typeface="DejaVu Sans"/>
              </a:defRPr>
            </a:pPr>
            <a:r>
              <a:t>TAKE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46504" y="1810512"/>
            <a:ext cx="27889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000" b="1">
                <a:solidFill>
                  <a:srgbClr val="087F83"/>
                </a:solidFill>
                <a:latin typeface="DejaVu Sans"/>
              </a:defRPr>
            </a:pPr>
            <a:r>
              <a:t>O QUE GRAVAR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91456" y="1810512"/>
            <a:ext cx="64922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000" b="1">
                <a:solidFill>
                  <a:srgbClr val="087F83"/>
                </a:solidFill>
                <a:latin typeface="DejaVu Sans"/>
              </a:defRPr>
            </a:pPr>
            <a:r>
              <a:t>FALA SUGERIDA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" y="2194560"/>
            <a:ext cx="10936224" cy="98755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77240" y="2350008"/>
            <a:ext cx="402336" cy="292608"/>
          </a:xfrm>
          <a:prstGeom prst="roundRect">
            <a:avLst>
              <a:gd name="adj" fmla="val 12000"/>
            </a:avLst>
          </a:prstGeom>
          <a:solidFill>
            <a:srgbClr val="087F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0392" y="2391156"/>
            <a:ext cx="256032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000" b="1">
                <a:solidFill>
                  <a:srgbClr val="FFFFFF"/>
                </a:solidFill>
                <a:latin typeface="DejaVu Sans"/>
              </a:defRPr>
            </a:pPr>
            <a:r>
              <a:t>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2788920"/>
            <a:ext cx="8229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100" b="0">
                <a:solidFill>
                  <a:srgbClr val="566E74"/>
                </a:solidFill>
                <a:latin typeface="DejaVu Sans"/>
              </a:defRPr>
            </a:pPr>
            <a:r>
              <a:t>4–6s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46504" y="2331720"/>
            <a:ext cx="2770632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200" b="1">
                <a:solidFill>
                  <a:srgbClr val="16313A"/>
                </a:solidFill>
                <a:latin typeface="DejaVu Sans"/>
              </a:defRPr>
            </a:pPr>
            <a:r>
              <a:t>PESSOA COM O PRODUTO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46504" y="2633472"/>
            <a:ext cx="2770632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150" b="0">
                <a:solidFill>
                  <a:srgbClr val="566E74"/>
                </a:solidFill>
                <a:latin typeface="DejaVu Sans"/>
              </a:defRPr>
            </a:pPr>
            <a:r>
              <a:t>Somente após aprovação comercial.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91456" y="2350008"/>
            <a:ext cx="6473952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700" b="0">
                <a:solidFill>
                  <a:srgbClr val="203941"/>
                </a:solidFill>
                <a:latin typeface="DejaVu Sans"/>
              </a:defRPr>
            </a:pPr>
            <a:r>
              <a:t>“Hoje temos uma condição especial em [produto participante].”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" y="3310128"/>
            <a:ext cx="10936224" cy="98755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777240" y="3465576"/>
            <a:ext cx="402336" cy="292608"/>
          </a:xfrm>
          <a:prstGeom prst="roundRect">
            <a:avLst>
              <a:gd name="adj" fmla="val 12000"/>
            </a:avLst>
          </a:prstGeom>
          <a:solidFill>
            <a:srgbClr val="087F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50392" y="3506724"/>
            <a:ext cx="256032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000" b="1">
                <a:solidFill>
                  <a:srgbClr val="FFFFFF"/>
                </a:solidFill>
                <a:latin typeface="DejaVu Sans"/>
              </a:defRPr>
            </a:pPr>
            <a:r>
              <a:t>02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3904488"/>
            <a:ext cx="8229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100" b="0">
                <a:solidFill>
                  <a:srgbClr val="566E74"/>
                </a:solidFill>
                <a:latin typeface="DejaVu Sans"/>
              </a:defRPr>
            </a:pPr>
            <a:r>
              <a:t>6–10s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746504" y="3447288"/>
            <a:ext cx="2770632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200" b="1">
                <a:solidFill>
                  <a:srgbClr val="16313A"/>
                </a:solidFill>
                <a:latin typeface="DejaVu Sans"/>
              </a:defRPr>
            </a:pPr>
            <a:r>
              <a:t>CLOSE DO PRODUTO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746504" y="3749039"/>
            <a:ext cx="2770632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150" b="0">
                <a:solidFill>
                  <a:srgbClr val="566E74"/>
                </a:solidFill>
                <a:latin typeface="DejaVu Sans"/>
              </a:defRPr>
            </a:pPr>
            <a:r>
              <a:t>Nome, apresentação e condição real.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91456" y="3465576"/>
            <a:ext cx="6473952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700" b="0">
                <a:solidFill>
                  <a:srgbClr val="203941"/>
                </a:solidFill>
                <a:latin typeface="DejaVu Sans"/>
              </a:defRPr>
            </a:pPr>
            <a:r>
              <a:t>“É o [nome e apresentação], por [valor e condição de pagamento aprovados].”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1792" y="4425696"/>
            <a:ext cx="10936224" cy="98755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777240" y="4581144"/>
            <a:ext cx="402336" cy="292608"/>
          </a:xfrm>
          <a:prstGeom prst="roundRect">
            <a:avLst>
              <a:gd name="adj" fmla="val 12000"/>
            </a:avLst>
          </a:prstGeom>
          <a:solidFill>
            <a:srgbClr val="087F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50392" y="4622292"/>
            <a:ext cx="256032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000" b="1">
                <a:solidFill>
                  <a:srgbClr val="FFFFFF"/>
                </a:solidFill>
                <a:latin typeface="DejaVu Sans"/>
              </a:defRPr>
            </a:pPr>
            <a:r>
              <a:t>03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7240" y="5020056"/>
            <a:ext cx="8229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100" b="0">
                <a:solidFill>
                  <a:srgbClr val="566E74"/>
                </a:solidFill>
                <a:latin typeface="DejaVu Sans"/>
              </a:defRPr>
            </a:pPr>
            <a:r>
              <a:t>6–10s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746504" y="4562856"/>
            <a:ext cx="2770632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200" b="1">
                <a:solidFill>
                  <a:srgbClr val="16313A"/>
                </a:solidFill>
                <a:latin typeface="DejaVu Sans"/>
              </a:defRPr>
            </a:pPr>
            <a:r>
              <a:t>PESSOA OU PRODUTO + LINK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746504" y="4864608"/>
            <a:ext cx="2770632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150" b="0">
                <a:solidFill>
                  <a:srgbClr val="566E74"/>
                </a:solidFill>
                <a:latin typeface="DejaVu Sans"/>
              </a:defRPr>
            </a:pPr>
            <a:r>
              <a:t>Dizer validade e condições relevantes.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791456" y="4581144"/>
            <a:ext cx="6473952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700" b="0">
                <a:solidFill>
                  <a:srgbClr val="203941"/>
                </a:solidFill>
                <a:latin typeface="DejaVu Sans"/>
              </a:defRPr>
            </a:pPr>
            <a:r>
              <a:t>“A condição vale até [data]. [Informar as condições necessárias]. Confira os detalhes pelo link.”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48640" y="5879592"/>
            <a:ext cx="11082528" cy="365760"/>
          </a:xfrm>
          <a:prstGeom prst="roundRect">
            <a:avLst>
              <a:gd name="adj" fmla="val 12000"/>
            </a:avLst>
          </a:prstGeom>
          <a:solidFill>
            <a:srgbClr val="E3E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94944" y="5952744"/>
            <a:ext cx="1078992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100" b="1">
                <a:solidFill>
                  <a:srgbClr val="087F83"/>
                </a:solidFill>
                <a:latin typeface="DejaVu Sans"/>
              </a:defRPr>
            </a:pPr>
            <a:r>
              <a:t>Escolher esta versão somente com preço, pagamento, validade, disponibilidade e condições confirmados.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000" b="1">
                <a:solidFill>
                  <a:srgbClr val="087F83"/>
                </a:solidFill>
                <a:latin typeface="DejaVu Sans"/>
              </a:defRPr>
            </a:pPr>
            <a:r>
              <a:t>CENTRAL SUPLEMENTOS  /  NOVEMBRO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13232"/>
            <a:ext cx="1106424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2900" b="1">
                <a:solidFill>
                  <a:srgbClr val="16313A"/>
                </a:solidFill>
                <a:latin typeface="DejaVu Sans"/>
              </a:defRPr>
            </a:pPr>
            <a:r>
              <a:t>27/11 · Sem promoção: seleção de produtos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128016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300" b="0">
                <a:solidFill>
                  <a:srgbClr val="566E74"/>
                </a:solidFill>
                <a:latin typeface="DejaVu Sans"/>
              </a:defRPr>
            </a:pPr>
            <a:r>
              <a:t>Stories · opção B  •  Takes numerados + falas sugeridas  •  A pessoa pode adaptar as palavras sem alterar as informações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428232"/>
            <a:ext cx="11173968" cy="10972"/>
          </a:xfrm>
          <a:prstGeom prst="rect">
            <a:avLst/>
          </a:prstGeom>
          <a:solidFill>
            <a:srgbClr val="D7E2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21207" y="6537960"/>
            <a:ext cx="914400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800" b="0">
                <a:solidFill>
                  <a:srgbClr val="566E74"/>
                </a:solidFill>
                <a:latin typeface="DejaVu Sans"/>
              </a:defRPr>
            </a:pPr>
            <a:r>
              <a:t>Plano operacional • Layout de trabalho: aplicar identidade oficial antes de publicar.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82528" y="6501384"/>
            <a:ext cx="54864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700"/>
              </a:spcAft>
              <a:defRPr sz="1100" b="1">
                <a:solidFill>
                  <a:srgbClr val="087F83"/>
                </a:solidFill>
                <a:latin typeface="DejaVu Sans"/>
              </a:defRPr>
            </a:pPr>
            <a:r>
              <a:t>16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7512" y="1810512"/>
            <a:ext cx="8229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000" b="1">
                <a:solidFill>
                  <a:srgbClr val="087F83"/>
                </a:solidFill>
                <a:latin typeface="DejaVu Sans"/>
              </a:defRPr>
            </a:pPr>
            <a:r>
              <a:t>TAKE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46504" y="1810512"/>
            <a:ext cx="27889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000" b="1">
                <a:solidFill>
                  <a:srgbClr val="087F83"/>
                </a:solidFill>
                <a:latin typeface="DejaVu Sans"/>
              </a:defRPr>
            </a:pPr>
            <a:r>
              <a:t>O QUE GRAVAR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91456" y="1810512"/>
            <a:ext cx="64922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000" b="1">
                <a:solidFill>
                  <a:srgbClr val="087F83"/>
                </a:solidFill>
                <a:latin typeface="DejaVu Sans"/>
              </a:defRPr>
            </a:pPr>
            <a:r>
              <a:t>FALA SUGERIDA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" y="2194560"/>
            <a:ext cx="10936224" cy="98755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77240" y="2350008"/>
            <a:ext cx="402336" cy="292608"/>
          </a:xfrm>
          <a:prstGeom prst="roundRect">
            <a:avLst>
              <a:gd name="adj" fmla="val 12000"/>
            </a:avLst>
          </a:prstGeom>
          <a:solidFill>
            <a:srgbClr val="087F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0392" y="2391156"/>
            <a:ext cx="256032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000" b="1">
                <a:solidFill>
                  <a:srgbClr val="FFFFFF"/>
                </a:solidFill>
                <a:latin typeface="DejaVu Sans"/>
              </a:defRPr>
            </a:pPr>
            <a:r>
              <a:t>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2788920"/>
            <a:ext cx="8229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100" b="0">
                <a:solidFill>
                  <a:srgbClr val="566E74"/>
                </a:solidFill>
                <a:latin typeface="DejaVu Sans"/>
              </a:defRPr>
            </a:pPr>
            <a:r>
              <a:t>5–7s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46504" y="2331720"/>
            <a:ext cx="2770632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200" b="1">
                <a:solidFill>
                  <a:srgbClr val="16313A"/>
                </a:solidFill>
                <a:latin typeface="DejaVu Sans"/>
              </a:defRPr>
            </a:pPr>
            <a:r>
              <a:t>PESSOA APRESENTA A SELEÇÃO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46504" y="2633472"/>
            <a:ext cx="2770632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150" b="0">
                <a:solidFill>
                  <a:srgbClr val="566E74"/>
                </a:solidFill>
                <a:latin typeface="DejaVu Sans"/>
              </a:defRPr>
            </a:pPr>
            <a:r>
              <a:t>Não sugerir desconto.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91456" y="2350008"/>
            <a:ext cx="6473952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700" b="0">
                <a:solidFill>
                  <a:srgbClr val="203941"/>
                </a:solidFill>
                <a:latin typeface="DejaVu Sans"/>
              </a:defRPr>
            </a:pPr>
            <a:r>
              <a:t>“Hoje separei algumas opções disponíveis na Central para mostrar para você.”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" y="3310128"/>
            <a:ext cx="10936224" cy="98755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777240" y="3465576"/>
            <a:ext cx="402336" cy="292608"/>
          </a:xfrm>
          <a:prstGeom prst="roundRect">
            <a:avLst>
              <a:gd name="adj" fmla="val 12000"/>
            </a:avLst>
          </a:prstGeom>
          <a:solidFill>
            <a:srgbClr val="087F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50392" y="3506724"/>
            <a:ext cx="256032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000" b="1">
                <a:solidFill>
                  <a:srgbClr val="FFFFFF"/>
                </a:solidFill>
                <a:latin typeface="DejaVu Sans"/>
              </a:defRPr>
            </a:pPr>
            <a:r>
              <a:t>02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3904488"/>
            <a:ext cx="8229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100" b="0">
                <a:solidFill>
                  <a:srgbClr val="566E74"/>
                </a:solidFill>
                <a:latin typeface="DejaVu Sans"/>
              </a:defRPr>
            </a:pPr>
            <a:r>
              <a:t>6–9s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746504" y="3447288"/>
            <a:ext cx="2770632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200" b="1">
                <a:solidFill>
                  <a:srgbClr val="16313A"/>
                </a:solidFill>
                <a:latin typeface="DejaVu Sans"/>
              </a:defRPr>
            </a:pPr>
            <a:r>
              <a:t>DOIS OU TRÊS PRODUTOS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746504" y="3749039"/>
            <a:ext cx="2770632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150" b="0">
                <a:solidFill>
                  <a:srgbClr val="566E74"/>
                </a:solidFill>
                <a:latin typeface="DejaVu Sans"/>
              </a:defRPr>
            </a:pPr>
            <a:r>
              <a:t>Mostrar nomes e detalhes reais.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91456" y="3465576"/>
            <a:ext cx="6473952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700" b="0">
                <a:solidFill>
                  <a:srgbClr val="203941"/>
                </a:solidFill>
                <a:latin typeface="DejaVu Sans"/>
              </a:defRPr>
            </a:pPr>
            <a:r>
              <a:t>“Estas são [opção A] e [opção B]. Vou mostrar os detalhes de cada uma.”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1792" y="4425696"/>
            <a:ext cx="10936224" cy="98755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777240" y="4581144"/>
            <a:ext cx="402336" cy="292608"/>
          </a:xfrm>
          <a:prstGeom prst="roundRect">
            <a:avLst>
              <a:gd name="adj" fmla="val 12000"/>
            </a:avLst>
          </a:prstGeom>
          <a:solidFill>
            <a:srgbClr val="087F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50392" y="4622292"/>
            <a:ext cx="256032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000" b="1">
                <a:solidFill>
                  <a:srgbClr val="FFFFFF"/>
                </a:solidFill>
                <a:latin typeface="DejaVu Sans"/>
              </a:defRPr>
            </a:pPr>
            <a:r>
              <a:t>03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7240" y="5020056"/>
            <a:ext cx="8229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100" b="0">
                <a:solidFill>
                  <a:srgbClr val="566E74"/>
                </a:solidFill>
                <a:latin typeface="DejaVu Sans"/>
              </a:defRPr>
            </a:pPr>
            <a:r>
              <a:t>5–8s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746504" y="4562856"/>
            <a:ext cx="2770632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200" b="1">
                <a:solidFill>
                  <a:srgbClr val="16313A"/>
                </a:solidFill>
                <a:latin typeface="DejaVu Sans"/>
              </a:defRPr>
            </a:pPr>
            <a:r>
              <a:t>PESSOA OU PRODUTOS + CONTATO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746504" y="4864608"/>
            <a:ext cx="2770632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150" b="0">
                <a:solidFill>
                  <a:srgbClr val="566E74"/>
                </a:solidFill>
                <a:latin typeface="DejaVu Sans"/>
              </a:defRPr>
            </a:pPr>
            <a:r>
              <a:t>Encerrar com um próximo passo.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791456" y="4581144"/>
            <a:ext cx="6473952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700" b="0">
                <a:solidFill>
                  <a:srgbClr val="203941"/>
                </a:solidFill>
                <a:latin typeface="DejaVu Sans"/>
              </a:defRPr>
            </a:pPr>
            <a:r>
              <a:t>“Quer conferir alguma delas? Veja no site ou fale com a equipe pelo WhatsApp.”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48640" y="5879592"/>
            <a:ext cx="11082528" cy="365760"/>
          </a:xfrm>
          <a:prstGeom prst="roundRect">
            <a:avLst>
              <a:gd name="adj" fmla="val 12000"/>
            </a:avLst>
          </a:prstGeom>
          <a:solidFill>
            <a:srgbClr val="E3E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94944" y="5952744"/>
            <a:ext cx="1078992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100" b="1">
                <a:solidFill>
                  <a:srgbClr val="087F83"/>
                </a:solidFill>
                <a:latin typeface="DejaVu Sans"/>
              </a:defRPr>
            </a:pPr>
            <a:r>
              <a:t>Escolher esta versão se não houver oferta aprovada. Não usar preço riscado ou percentual de desconto.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000" b="1">
                <a:solidFill>
                  <a:srgbClr val="087F83"/>
                </a:solidFill>
                <a:latin typeface="DejaVu Sans"/>
              </a:defRPr>
            </a:pPr>
            <a:r>
              <a:t>CENTRAL SUPLEMENTOS  /  NOVEMBRO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13232"/>
            <a:ext cx="1106424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2900" b="1">
                <a:solidFill>
                  <a:srgbClr val="16313A"/>
                </a:solidFill>
                <a:latin typeface="DejaVu Sans"/>
              </a:defRPr>
            </a:pPr>
            <a:r>
              <a:t>30/11 · O que você quer ver em dezembro?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128016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300" b="0">
                <a:solidFill>
                  <a:srgbClr val="566E74"/>
                </a:solidFill>
                <a:latin typeface="DejaVu Sans"/>
              </a:defRPr>
            </a:pPr>
            <a:r>
              <a:t>Stories · 3 partes  •  Takes numerados + falas sugeridas  •  A pessoa pode adaptar as palavras sem alterar as informações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428232"/>
            <a:ext cx="11173968" cy="10972"/>
          </a:xfrm>
          <a:prstGeom prst="rect">
            <a:avLst/>
          </a:prstGeom>
          <a:solidFill>
            <a:srgbClr val="D7E2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21207" y="6537960"/>
            <a:ext cx="914400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800" b="0">
                <a:solidFill>
                  <a:srgbClr val="566E74"/>
                </a:solidFill>
                <a:latin typeface="DejaVu Sans"/>
              </a:defRPr>
            </a:pPr>
            <a:r>
              <a:t>Plano operacional • Layout de trabalho: aplicar identidade oficial antes de publicar.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82528" y="6501384"/>
            <a:ext cx="54864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700"/>
              </a:spcAft>
              <a:defRPr sz="1100" b="1">
                <a:solidFill>
                  <a:srgbClr val="087F83"/>
                </a:solidFill>
                <a:latin typeface="DejaVu Sans"/>
              </a:defRPr>
            </a:pPr>
            <a:r>
              <a:t>17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7512" y="1810512"/>
            <a:ext cx="8229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000" b="1">
                <a:solidFill>
                  <a:srgbClr val="087F83"/>
                </a:solidFill>
                <a:latin typeface="DejaVu Sans"/>
              </a:defRPr>
            </a:pPr>
            <a:r>
              <a:t>TAKE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46504" y="1810512"/>
            <a:ext cx="27889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000" b="1">
                <a:solidFill>
                  <a:srgbClr val="087F83"/>
                </a:solidFill>
                <a:latin typeface="DejaVu Sans"/>
              </a:defRPr>
            </a:pPr>
            <a:r>
              <a:t>O QUE GRAVAR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91456" y="1810512"/>
            <a:ext cx="64922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000" b="1">
                <a:solidFill>
                  <a:srgbClr val="087F83"/>
                </a:solidFill>
                <a:latin typeface="DejaVu Sans"/>
              </a:defRPr>
            </a:pPr>
            <a:r>
              <a:t>FALA SUGERIDA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" y="2194560"/>
            <a:ext cx="10936224" cy="98755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77240" y="2350008"/>
            <a:ext cx="402336" cy="292608"/>
          </a:xfrm>
          <a:prstGeom prst="roundRect">
            <a:avLst>
              <a:gd name="adj" fmla="val 12000"/>
            </a:avLst>
          </a:prstGeom>
          <a:solidFill>
            <a:srgbClr val="087F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0392" y="2391156"/>
            <a:ext cx="256032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000" b="1">
                <a:solidFill>
                  <a:srgbClr val="FFFFFF"/>
                </a:solidFill>
                <a:latin typeface="DejaVu Sans"/>
              </a:defRPr>
            </a:pPr>
            <a:r>
              <a:t>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2788920"/>
            <a:ext cx="8229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100" b="0">
                <a:solidFill>
                  <a:srgbClr val="566E74"/>
                </a:solidFill>
                <a:latin typeface="DejaVu Sans"/>
              </a:defRPr>
            </a:pPr>
            <a:r>
              <a:t>4–6s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46504" y="2331720"/>
            <a:ext cx="2770632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200" b="1">
                <a:solidFill>
                  <a:srgbClr val="16313A"/>
                </a:solidFill>
                <a:latin typeface="DejaVu Sans"/>
              </a:defRPr>
            </a:pPr>
            <a:r>
              <a:t>PESSOA NA LOJA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46504" y="2633472"/>
            <a:ext cx="2770632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150" b="0">
                <a:solidFill>
                  <a:srgbClr val="566E74"/>
                </a:solidFill>
                <a:latin typeface="DejaVu Sans"/>
              </a:defRPr>
            </a:pPr>
            <a:r>
              <a:t>Retomar o mês em uma frase.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91456" y="2350008"/>
            <a:ext cx="6473952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700" b="0">
                <a:solidFill>
                  <a:srgbClr val="203941"/>
                </a:solidFill>
                <a:latin typeface="DejaVu Sans"/>
              </a:defRPr>
            </a:pPr>
            <a:r>
              <a:t>“Neste mês, mostramos um pouco da Central por aqui.”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" y="3310128"/>
            <a:ext cx="10936224" cy="98755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777240" y="3465576"/>
            <a:ext cx="402336" cy="292608"/>
          </a:xfrm>
          <a:prstGeom prst="roundRect">
            <a:avLst>
              <a:gd name="adj" fmla="val 12000"/>
            </a:avLst>
          </a:prstGeom>
          <a:solidFill>
            <a:srgbClr val="087F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50392" y="3506724"/>
            <a:ext cx="256032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000" b="1">
                <a:solidFill>
                  <a:srgbClr val="FFFFFF"/>
                </a:solidFill>
                <a:latin typeface="DejaVu Sans"/>
              </a:defRPr>
            </a:pPr>
            <a:r>
              <a:t>02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3904488"/>
            <a:ext cx="8229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100" b="0">
                <a:solidFill>
                  <a:srgbClr val="566E74"/>
                </a:solidFill>
                <a:latin typeface="DejaVu Sans"/>
              </a:defRPr>
            </a:pPr>
            <a:r>
              <a:t>5–7s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746504" y="3447288"/>
            <a:ext cx="2770632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200" b="1">
                <a:solidFill>
                  <a:srgbClr val="16313A"/>
                </a:solidFill>
                <a:latin typeface="DejaVu Sans"/>
              </a:defRPr>
            </a:pPr>
            <a:r>
              <a:t>PESSOA + IMAGENS DO MÊS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746504" y="3749039"/>
            <a:ext cx="2770632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150" b="0">
                <a:solidFill>
                  <a:srgbClr val="566E74"/>
                </a:solidFill>
                <a:latin typeface="DejaVu Sans"/>
              </a:defRPr>
            </a:pPr>
            <a:r>
              <a:t>Produtos e bastidores.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91456" y="3465576"/>
            <a:ext cx="6473952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700" b="0">
                <a:solidFill>
                  <a:srgbClr val="203941"/>
                </a:solidFill>
                <a:latin typeface="DejaVu Sans"/>
              </a:defRPr>
            </a:pPr>
            <a:r>
              <a:t>“Em dezembro, você quer ver mais produtos ou bastidores da loja?”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1792" y="4425696"/>
            <a:ext cx="10936224" cy="98755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777240" y="4581144"/>
            <a:ext cx="402336" cy="292608"/>
          </a:xfrm>
          <a:prstGeom prst="roundRect">
            <a:avLst>
              <a:gd name="adj" fmla="val 12000"/>
            </a:avLst>
          </a:prstGeom>
          <a:solidFill>
            <a:srgbClr val="087F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50392" y="4622292"/>
            <a:ext cx="256032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000" b="1">
                <a:solidFill>
                  <a:srgbClr val="FFFFFF"/>
                </a:solidFill>
                <a:latin typeface="DejaVu Sans"/>
              </a:defRPr>
            </a:pPr>
            <a:r>
              <a:t>03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7240" y="5020056"/>
            <a:ext cx="8229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100" b="0">
                <a:solidFill>
                  <a:srgbClr val="566E74"/>
                </a:solidFill>
                <a:latin typeface="DejaVu Sans"/>
              </a:defRPr>
            </a:pPr>
            <a:r>
              <a:t>5–7s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746504" y="4562856"/>
            <a:ext cx="2770632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200" b="1">
                <a:solidFill>
                  <a:srgbClr val="16313A"/>
                </a:solidFill>
                <a:latin typeface="DejaVu Sans"/>
              </a:defRPr>
            </a:pPr>
            <a:r>
              <a:t>PESSOA + ENQUETE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746504" y="4864608"/>
            <a:ext cx="2770632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150" b="0">
                <a:solidFill>
                  <a:srgbClr val="566E74"/>
                </a:solidFill>
                <a:latin typeface="DejaVu Sans"/>
              </a:defRPr>
            </a:pPr>
            <a:r>
              <a:t>Manter o recurso livre na tela.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791456" y="4581144"/>
            <a:ext cx="6473952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700" b="0">
                <a:solidFill>
                  <a:srgbClr val="203941"/>
                </a:solidFill>
                <a:latin typeface="DejaVu Sans"/>
              </a:defRPr>
            </a:pPr>
            <a:r>
              <a:t>“Vote na enquete. Sua resposta ajuda a escolher os próximos assuntos.”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48640" y="5879592"/>
            <a:ext cx="11082528" cy="365760"/>
          </a:xfrm>
          <a:prstGeom prst="roundRect">
            <a:avLst>
              <a:gd name="adj" fmla="val 12000"/>
            </a:avLst>
          </a:prstGeom>
          <a:solidFill>
            <a:srgbClr val="E3E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94944" y="5952744"/>
            <a:ext cx="1078992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100" b="1">
                <a:solidFill>
                  <a:srgbClr val="087F83"/>
                </a:solidFill>
                <a:latin typeface="DejaVu Sans"/>
              </a:defRPr>
            </a:pPr>
            <a:r>
              <a:t>Adicionar enquete: “Produtos” / “Bastidores da loja”. Registrar o resultado para planejar dezembro.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000" b="1">
                <a:solidFill>
                  <a:srgbClr val="087F83"/>
                </a:solidFill>
                <a:latin typeface="DejaVu Sans"/>
              </a:defRPr>
            </a:pPr>
            <a:r>
              <a:t>CENTRAL SUPLEMENTOS  /  NOVEMBRO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13232"/>
            <a:ext cx="1106424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2900" b="1">
                <a:solidFill>
                  <a:srgbClr val="16313A"/>
                </a:solidFill>
                <a:latin typeface="DejaVu Sans"/>
              </a:defRPr>
            </a:pPr>
            <a:r>
              <a:t>Antes de gravar e antes de publicar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128016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300" b="0">
                <a:solidFill>
                  <a:srgbClr val="566E74"/>
                </a:solidFill>
                <a:latin typeface="DejaVu Sans"/>
              </a:defRPr>
            </a:pPr>
            <a:r>
              <a:t>As fichas resolvem o roteiro. Esta conferência evita refazer o material.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428232"/>
            <a:ext cx="11173968" cy="10972"/>
          </a:xfrm>
          <a:prstGeom prst="rect">
            <a:avLst/>
          </a:prstGeom>
          <a:solidFill>
            <a:srgbClr val="D7E2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21207" y="6537960"/>
            <a:ext cx="914400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800" b="0">
                <a:solidFill>
                  <a:srgbClr val="566E74"/>
                </a:solidFill>
                <a:latin typeface="DejaVu Sans"/>
              </a:defRPr>
            </a:pPr>
            <a:r>
              <a:t>Plano operacional • Layout de trabalho: aplicar identidade oficial antes de publicar.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82528" y="6501384"/>
            <a:ext cx="54864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700"/>
              </a:spcAft>
              <a:defRPr sz="1100" b="1">
                <a:solidFill>
                  <a:srgbClr val="087F83"/>
                </a:solidFill>
                <a:latin typeface="DejaVu Sans"/>
              </a:defRPr>
            </a:pPr>
            <a:r>
              <a:t>18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929384"/>
            <a:ext cx="3611880" cy="363931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536" y="2221992"/>
            <a:ext cx="3182112" cy="4663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800" b="1">
                <a:solidFill>
                  <a:srgbClr val="087F83"/>
                </a:solidFill>
                <a:latin typeface="DejaVu Sans"/>
              </a:defRPr>
            </a:pPr>
            <a:r>
              <a:t>ANTES DE GRAVAR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9536" y="3072384"/>
            <a:ext cx="3182112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600" b="0">
                <a:solidFill>
                  <a:srgbClr val="203941"/>
                </a:solidFill>
                <a:latin typeface="DejaVu Sans"/>
              </a:defRPr>
            </a:pPr>
            <a:r>
              <a:t>□ Preencher os campos entre colchetes</a:t>
            </a:r>
          </a:p>
          <a:p>
            <a:pPr>
              <a:spcBef>
                <a:spcPts val="0"/>
              </a:spcBef>
              <a:spcAft>
                <a:spcPts val="700"/>
              </a:spcAft>
              <a:defRPr sz="1600" b="0">
                <a:solidFill>
                  <a:srgbClr val="203941"/>
                </a:solidFill>
                <a:latin typeface="DejaVu Sans"/>
              </a:defRPr>
            </a:pPr>
            <a:r>
              <a:t>□ Conferir produto, estoque e dados</a:t>
            </a:r>
          </a:p>
          <a:p>
            <a:pPr>
              <a:spcBef>
                <a:spcPts val="0"/>
              </a:spcBef>
              <a:spcAft>
                <a:spcPts val="700"/>
              </a:spcAft>
              <a:defRPr sz="1600" b="0">
                <a:solidFill>
                  <a:srgbClr val="203941"/>
                </a:solidFill>
                <a:latin typeface="DejaVu Sans"/>
              </a:defRPr>
            </a:pPr>
            <a:r>
              <a:t>□ Definir quem apresenta e narra</a:t>
            </a:r>
          </a:p>
          <a:p>
            <a:pPr>
              <a:spcBef>
                <a:spcPts val="0"/>
              </a:spcBef>
              <a:spcAft>
                <a:spcPts val="700"/>
              </a:spcAft>
              <a:defRPr sz="1600" b="0">
                <a:solidFill>
                  <a:srgbClr val="203941"/>
                </a:solidFill>
                <a:latin typeface="DejaVu Sans"/>
              </a:defRPr>
            </a:pPr>
            <a:r>
              <a:t>□ Testar som, luz e enquadramento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53128" y="1929384"/>
            <a:ext cx="3611880" cy="363931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54296" y="2221992"/>
            <a:ext cx="3182112" cy="4663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800" b="1">
                <a:solidFill>
                  <a:srgbClr val="087F83"/>
                </a:solidFill>
                <a:latin typeface="DejaVu Sans"/>
              </a:defRPr>
            </a:pPr>
            <a:r>
              <a:t>NA EDIÇÃO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54296" y="3072384"/>
            <a:ext cx="3182112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600" b="0">
                <a:solidFill>
                  <a:srgbClr val="203941"/>
                </a:solidFill>
                <a:latin typeface="DejaVu Sans"/>
              </a:defRPr>
            </a:pPr>
            <a:r>
              <a:t>□ Manter a voz durante os apoios</a:t>
            </a:r>
          </a:p>
          <a:p>
            <a:pPr>
              <a:spcBef>
                <a:spcPts val="0"/>
              </a:spcBef>
              <a:spcAft>
                <a:spcPts val="700"/>
              </a:spcAft>
              <a:defRPr sz="1600" b="0">
                <a:solidFill>
                  <a:srgbClr val="203941"/>
                </a:solidFill>
                <a:latin typeface="DejaVu Sans"/>
              </a:defRPr>
            </a:pPr>
            <a:r>
              <a:t>□ Criar legendas sincronizadas</a:t>
            </a:r>
          </a:p>
          <a:p>
            <a:pPr>
              <a:spcBef>
                <a:spcPts val="0"/>
              </a:spcBef>
              <a:spcAft>
                <a:spcPts val="700"/>
              </a:spcAft>
              <a:defRPr sz="1600" b="0">
                <a:solidFill>
                  <a:srgbClr val="203941"/>
                </a:solidFill>
                <a:latin typeface="DejaVu Sans"/>
              </a:defRPr>
            </a:pPr>
            <a:r>
              <a:t>□ Deixar rosto e rótulo livres</a:t>
            </a:r>
          </a:p>
          <a:p>
            <a:pPr>
              <a:spcBef>
                <a:spcPts val="0"/>
              </a:spcBef>
              <a:spcAft>
                <a:spcPts val="700"/>
              </a:spcAft>
              <a:defRPr sz="1600" b="0">
                <a:solidFill>
                  <a:srgbClr val="203941"/>
                </a:solidFill>
                <a:latin typeface="DejaVu Sans"/>
              </a:defRPr>
            </a:pPr>
            <a:r>
              <a:t>□ Usar música baixa, se utilizada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47888" y="1929384"/>
            <a:ext cx="3611880" cy="363931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49056" y="2221992"/>
            <a:ext cx="3182112" cy="4663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800" b="1">
                <a:solidFill>
                  <a:srgbClr val="087F83"/>
                </a:solidFill>
                <a:latin typeface="DejaVu Sans"/>
              </a:defRPr>
            </a:pPr>
            <a:r>
              <a:t>ANTES DE PUBLICAR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49056" y="3072384"/>
            <a:ext cx="3182112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600" b="0">
                <a:solidFill>
                  <a:srgbClr val="203941"/>
                </a:solidFill>
                <a:latin typeface="DejaVu Sans"/>
              </a:defRPr>
            </a:pPr>
            <a:r>
              <a:t>□ Assistir ao vídeo no celular</a:t>
            </a:r>
          </a:p>
          <a:p>
            <a:pPr>
              <a:spcBef>
                <a:spcPts val="0"/>
              </a:spcBef>
              <a:spcAft>
                <a:spcPts val="700"/>
              </a:spcAft>
              <a:defRPr sz="1600" b="0">
                <a:solidFill>
                  <a:srgbClr val="203941"/>
                </a:solidFill>
                <a:latin typeface="DejaVu Sans"/>
              </a:defRPr>
            </a:pPr>
            <a:r>
              <a:t>□ Conferir convite, links e contato</a:t>
            </a:r>
          </a:p>
          <a:p>
            <a:pPr>
              <a:spcBef>
                <a:spcPts val="0"/>
              </a:spcBef>
              <a:spcAft>
                <a:spcPts val="700"/>
              </a:spcAft>
              <a:defRPr sz="1600" b="0">
                <a:solidFill>
                  <a:srgbClr val="203941"/>
                </a:solidFill>
                <a:latin typeface="DejaVu Sans"/>
              </a:defRPr>
            </a:pPr>
            <a:r>
              <a:t>□ Aprovar condições comerciais</a:t>
            </a:r>
          </a:p>
          <a:p>
            <a:pPr>
              <a:spcBef>
                <a:spcPts val="0"/>
              </a:spcBef>
              <a:spcAft>
                <a:spcPts val="700"/>
              </a:spcAft>
              <a:defRPr sz="1600" b="0">
                <a:solidFill>
                  <a:srgbClr val="203941"/>
                </a:solidFill>
                <a:latin typeface="DejaVu Sans"/>
              </a:defRPr>
            </a:pPr>
            <a:r>
              <a:t>□ Separar um horário para responder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5879592"/>
            <a:ext cx="11082528" cy="365760"/>
          </a:xfrm>
          <a:prstGeom prst="roundRect">
            <a:avLst>
              <a:gd name="adj" fmla="val 12000"/>
            </a:avLst>
          </a:prstGeom>
          <a:solidFill>
            <a:srgbClr val="E3E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94944" y="5952744"/>
            <a:ext cx="1078992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100" b="1">
                <a:solidFill>
                  <a:srgbClr val="087F83"/>
                </a:solidFill>
                <a:latin typeface="DejaVu Sans"/>
              </a:defRPr>
            </a:pPr>
            <a:r>
              <a:t>Não mostrar clientes ou dados de pedidos sem autorização. Aplicar a identidade oficial da Central nas peças finais.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Central Suplementos — Takes e Falas — Novembro de 2026</dc:title>
  <dc:subject>Roteiros de captação das 13 publicações faladas e legendadas</dc:subject>
  <dc:creator>Central Suplementos — planejamento de conteúdo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