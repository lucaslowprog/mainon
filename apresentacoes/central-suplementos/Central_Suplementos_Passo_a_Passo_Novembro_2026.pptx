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Apresentação operacional criada a partir do plano enviado pelo usuário. Datas referentes a novembro de 2026. A identidade visual é provisória; não corresponde a um manual de marca aprovado da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como agenda da semana. Marcar responsável e horário no organizador da equipe. Antes de publicar, conferir disponibilidade e links novamente. Não é necessário publicar todos os dias.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as telas como guia de produção. Substitua os campos por material real, confira os dados e os links, publique e registre as interações.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Captar cada tomada por pelo menos alguns segundos a mais do que o trecho final. Editar seguindo os intervalos. Não cobrir a imagem com texto em excesso. Verificar clientes e dados de pedidos antes de usar qualquer gravação.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as telas como guia de produção. Substitua os campos por material real, confira os dados e os links, publique e registre as interações.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como agenda da semana. Marcar responsável e horário no organizador da equipe. Antes de publicar, conferir disponibilidade e links novamente. Não é necessário publicar todos os dias.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as telas como guia de produção. Substitua os campos por material real, confira os dados e os links, publique e registre as interações.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Criar as quatro páginas com a identidade oficial da Central. Revisar informação e leitura no celular. Na publicação, usar a chamada para ação indicada e conferir o destino no link do perfil.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as telas como guia de produção. Substitua os campos por material real, confira os dados e os links, publique e registre as interações.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como agenda da semana. Marcar responsável e horário no organizador da equipe. Antes de publicar, conferir disponibilidade e links novamente. Não é necessário publicar todos os dias.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as telas como guia de produção. Substitua os campos por material real, confira os dados e os links, publique e registre as interações.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Captar cada tomada por pelo menos alguns segundos a mais do que o trecho final. Editar seguindo os intervalos. Não cobrir a imagem com texto em excesso. Verificar clientes e dados de pedidos antes de usar qualquer gravação.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as telas como guia de produção. Substitua os campos por material real, confira os dados e os links, publique e registre as interações.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como agenda da semana. Marcar responsável e horário no organizador da equipe. Antes de publicar, conferir disponibilidade e links novamente. Não é necessário publicar todos os dias.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as telas como guia de produção. Substitua os campos por material real, confira os dados e os links, publique e registre as interações.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Criar as quatro páginas com a identidade oficial da Central. Revisar informação e leitura no celular. Na publicação, usar a chamada para ação indicada e conferir o destino no link do perfil.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é uma decisão comercial, não uma promoção já definida. Conferir preço, pagamento, validade, disponibilidade e restrições com a gestão. Se não houver ação promocional, usar o plano sem promoção.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as telas como guia de produção. Substitua os campos por material real, confira os dados e os links, publique e registre as interações.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há números de desempenho nesta apresentação. A tabela é um modelo para preencher após cada publicação. Comparar conteúdos com objetivos semelhantes e interpretar os resultados dentro do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94360"/>
            <a:ext cx="3017520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1" y="635508"/>
            <a:ext cx="2871215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GUIA PRÁTICO  •  NOVEMBRO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17904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4000" b="1">
                <a:solidFill>
                  <a:srgbClr val="FFFFFF"/>
                </a:solidFill>
                <a:latin typeface="DejaVu Sans"/>
              </a:defRPr>
            </a:pPr>
            <a:r>
              <a:t>Central Suplementos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4000" b="1">
                <a:solidFill>
                  <a:srgbClr val="FFFFFF"/>
                </a:solidFill>
                <a:latin typeface="DejaVu Sans"/>
              </a:defRPr>
            </a:pPr>
            <a:r>
              <a:t>30 dias, passo a passo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3511296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100" b="0">
                <a:solidFill>
                  <a:srgbClr val="FFFFFF"/>
                </a:solidFill>
                <a:latin typeface="DejaVu Sans"/>
              </a:defRPr>
            </a:pPr>
            <a:r>
              <a:t>O que preparar, como produzir e quando publicar.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2100" b="0">
                <a:solidFill>
                  <a:srgbClr val="FFFFFF"/>
                </a:solidFill>
                <a:latin typeface="DejaVu Sans"/>
              </a:defRPr>
            </a:pPr>
            <a:r>
              <a:t>Do primeiro registro da loja ao planejamento de dezembro.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956048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EABF75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3270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FFFFFF"/>
                </a:solidFill>
                <a:latin typeface="DejaVu Sans"/>
              </a:defRPr>
            </a:pPr>
            <a:r>
              <a:t>publicações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956048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EABF75"/>
                </a:solidFill>
                <a:latin typeface="DejaVu Sans"/>
              </a:defRPr>
            </a:pPr>
            <a: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63270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FFFFFF"/>
                </a:solidFill>
                <a:latin typeface="DejaVu Sans"/>
              </a:defRPr>
            </a:pPr>
            <a:r>
              <a:t>dias organizados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4956048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400" b="1">
                <a:solidFill>
                  <a:srgbClr val="EABF75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563270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FFFFFF"/>
                </a:solidFill>
                <a:latin typeface="DejaVu Sans"/>
              </a:defRPr>
            </a:pPr>
            <a:r>
              <a:t>semanas + fechamento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Como usar esta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Cada publicação tem um exemplo de estrutura e uma sequência de execução.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47088"/>
            <a:ext cx="5468112" cy="1618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503834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16313A"/>
                </a:solidFill>
                <a:latin typeface="DejaVu Sans"/>
              </a:defRPr>
            </a:pPr>
            <a:r>
              <a:t>1. Consulte a semana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503834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566E74"/>
                </a:solidFill>
                <a:latin typeface="DejaVu Sans"/>
              </a:defRPr>
            </a:pPr>
            <a:r>
              <a:t>Veja o dia da postagem e as tarefas de preparação.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847088"/>
            <a:ext cx="5468112" cy="1618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2039112"/>
            <a:ext cx="503834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16313A"/>
                </a:solidFill>
                <a:latin typeface="DejaVu Sans"/>
              </a:defRPr>
            </a:pPr>
            <a:r>
              <a:t>2. Abra a ficha do conteúdo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606040"/>
            <a:ext cx="503834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566E74"/>
                </a:solidFill>
                <a:latin typeface="DejaVu Sans"/>
              </a:defRPr>
            </a:pPr>
            <a:r>
              <a:t>Siga as telas, os textos e os passos de produção.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30752"/>
            <a:ext cx="5468112" cy="1618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22776"/>
            <a:ext cx="503834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16313A"/>
                </a:solidFill>
                <a:latin typeface="DejaVu Sans"/>
              </a:defRPr>
            </a:pPr>
            <a:r>
              <a:t>3. Confira e publique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9704"/>
            <a:ext cx="503834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566E74"/>
                </a:solidFill>
                <a:latin typeface="DejaVu Sans"/>
              </a:defRPr>
            </a:pPr>
            <a:r>
              <a:t>Valide informações, links e aprovação comercial.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3730752"/>
            <a:ext cx="5468112" cy="1618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3922776"/>
            <a:ext cx="503834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16313A"/>
                </a:solidFill>
                <a:latin typeface="DejaVu Sans"/>
              </a:defRPr>
            </a:pPr>
            <a:r>
              <a:t>4. Responda e registre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489704"/>
            <a:ext cx="503834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566E74"/>
                </a:solidFill>
                <a:latin typeface="DejaVu Sans"/>
              </a:defRPr>
            </a:pPr>
            <a:r>
              <a:t>Acompanhe o público e anote os resultados no dia seguinte.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O PowerPoint é editável. As notas dos slides trazem orientações complementares de execução.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O mês em uma visão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Instagram apresenta a Central e encaminha para site, WhatsApp e loja física.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56231"/>
            <a:ext cx="3602736" cy="1527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800" b="1">
                <a:solidFill>
                  <a:srgbClr val="087F83"/>
                </a:solidFill>
                <a:latin typeface="DejaVu Sans"/>
              </a:defRPr>
            </a:pPr>
            <a: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76148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16313A"/>
                </a:solidFill>
                <a:latin typeface="DejaVu Sans"/>
              </a:defRPr>
            </a:pPr>
            <a:r>
              <a:t>sequências de Stories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56231"/>
            <a:ext cx="3602736" cy="1527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039112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800" b="1">
                <a:solidFill>
                  <a:srgbClr val="087F83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76148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16313A"/>
                </a:solidFill>
                <a:latin typeface="DejaVu Sans"/>
              </a:defRPr>
            </a:pPr>
            <a:r>
              <a:t>Reels de 15 segundos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56231"/>
            <a:ext cx="3602736" cy="1527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2039112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800" b="1">
                <a:solidFill>
                  <a:srgbClr val="087F83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76148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16313A"/>
                </a:solidFill>
                <a:latin typeface="DejaVu Sans"/>
              </a:defRPr>
            </a:pPr>
            <a:r>
              <a:t>carrosséis de 4 páginas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Semana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16313A"/>
                </a:solidFill>
                <a:latin typeface="DejaVu Sans"/>
              </a:defRPr>
            </a:pPr>
            <a:r>
              <a:t>Apresentar a loja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385876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Semana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438912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16313A"/>
                </a:solidFill>
                <a:latin typeface="DejaVu Sans"/>
              </a:defRPr>
            </a:pPr>
            <a:r>
              <a:t>Explorar os produtos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85876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Semana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438912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16313A"/>
                </a:solidFill>
                <a:latin typeface="DejaVu Sans"/>
              </a:defRPr>
            </a:pPr>
            <a:r>
              <a:t>Aproximar e conversar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385876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Semana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438912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16313A"/>
                </a:solidFill>
                <a:latin typeface="DejaVu Sans"/>
              </a:defRPr>
            </a:pPr>
            <a:r>
              <a:t>Conectar os canais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30/11 encerra o mês com uma enquete para orientar os conteúdos de dezembro.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Antes de começar: reunir e confirmar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Preencher com dados oficiais. Não inventar endereço, contato, preço, estoque ou condição comercial.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15667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86080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Identidade da 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185415"/>
            <a:ext cx="475488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Logo, cores, tipografia e exemplos de comunicação aprovados.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07208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848356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793491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Canais oficiais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18103"/>
            <a:ext cx="475488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Endereço completo, horário, WhatsApp e links do site.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39896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781044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7261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Informações dos produtos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50791"/>
            <a:ext cx="475488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Nome, versão, tamanho e sabor conforme embalagem ou cadastro.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72583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713731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465886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Materiais e permissões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983479"/>
            <a:ext cx="475488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Fotos reais e autorização para pessoas que apareçam nas imagens.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1874519"/>
            <a:ext cx="5029200" cy="3840480"/>
          </a:xfrm>
          <a:prstGeom prst="roundRect">
            <a:avLst>
              <a:gd name="adj" fmla="val 12000"/>
            </a:avLst>
          </a:prstGeom>
          <a:solidFill>
            <a:srgbClr val="163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213055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1">
                <a:solidFill>
                  <a:srgbClr val="EABF75"/>
                </a:solidFill>
                <a:latin typeface="DejaVu Sans"/>
              </a:defRPr>
            </a:pPr>
            <a:r>
              <a:t>ORGANIZAÇÃO SUGERIDA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2816352"/>
            <a:ext cx="4480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01 · Fachada e localização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02 · Loja e prateleiras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03 · Produtos e informações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04 · Bastidores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05 · Peças aprovadas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FFFFFF"/>
                </a:solidFill>
                <a:latin typeface="DejaVu Sans"/>
              </a:defRPr>
            </a:pPr>
            <a:r>
              <a:t>06 · Resultados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Calendário de publicações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Novembro de 2026 • Os horários devem considerar os Insights e a disponibilidade para responder.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1965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SEG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181965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3904" y="181965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QUA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9" y="181965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6016" y="181965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SEX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181965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SÁB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8128" y="181965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DOM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2139696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76272" y="2139696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67328" y="2139696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58383" y="2139696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49440" y="2139696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40496" y="2139696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31552" y="2139696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04704" y="2194560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" y="2679191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7340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76272" y="2679191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9424" y="27340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32888" y="27660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087F83"/>
                </a:solidFill>
                <a:latin typeface="DejaVu Sans"/>
              </a:defRPr>
            </a:pPr>
            <a:r>
              <a:t>ST · Loja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67328" y="2679191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0" y="27340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58383" y="2679191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31536" y="27340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4999" y="27660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16313A"/>
                </a:solidFill>
                <a:latin typeface="DejaVu Sans"/>
              </a:defRPr>
            </a:pPr>
            <a:r>
              <a:t>RE · Central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9440" y="2679191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22592" y="27340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40496" y="2679191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13648" y="27340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7112" y="27660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087F83"/>
                </a:solidFill>
                <a:latin typeface="DejaVu Sans"/>
              </a:defRPr>
            </a:pPr>
            <a:r>
              <a:t>ST · Categoria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31552" y="2679191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04704" y="2734056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5216" y="3218687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3273551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76272" y="3218687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49424" y="3273551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32888" y="33055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087F83"/>
                </a:solidFill>
                <a:latin typeface="DejaVu Sans"/>
              </a:defRPr>
            </a:pPr>
            <a:r>
              <a:t>ST · Enquete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67328" y="3218687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0" y="3273551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58383" y="3218687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31536" y="3273551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4999" y="33055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EABF75"/>
                </a:solidFill>
                <a:latin typeface="DejaVu Sans"/>
              </a:defRPr>
            </a:pPr>
            <a:r>
              <a:t>CA · Whey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49440" y="3218687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22592" y="3273551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40496" y="3218687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13648" y="3273551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97112" y="33055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087F83"/>
                </a:solidFill>
                <a:latin typeface="DejaVu Sans"/>
              </a:defRPr>
            </a:pPr>
            <a:r>
              <a:t>ST · Escolha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131552" y="3218687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04704" y="3273551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15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5216" y="3758183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3813047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16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176272" y="3758183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49424" y="3813047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17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32888" y="3845051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087F83"/>
                </a:solidFill>
                <a:latin typeface="DejaVu Sans"/>
              </a:defRPr>
            </a:pPr>
            <a:r>
              <a:t>ST · Perguntas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767328" y="3758183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40480" y="3813047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18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58383" y="3758183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31536" y="3813047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14999" y="3845051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16313A"/>
                </a:solidFill>
                <a:latin typeface="DejaVu Sans"/>
              </a:defRPr>
            </a:pPr>
            <a:r>
              <a:t>RE · Bastidores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949440" y="3758183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22592" y="3813047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20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40496" y="3758183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13648" y="3813047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21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97112" y="3845051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087F83"/>
                </a:solidFill>
                <a:latin typeface="DejaVu Sans"/>
              </a:defRPr>
            </a:pPr>
            <a:r>
              <a:t>ST · Resposta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31552" y="3758183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04704" y="3813047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22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85216" y="4297679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" y="4352543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23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176272" y="4297679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49424" y="4352543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24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32888" y="438454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087F83"/>
                </a:solidFill>
                <a:latin typeface="DejaVu Sans"/>
              </a:defRPr>
            </a:pPr>
            <a:r>
              <a:t>ST · Site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767328" y="4297679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40480" y="4352543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25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358383" y="4297679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31536" y="4352543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14999" y="438454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EABF75"/>
                </a:solidFill>
                <a:latin typeface="DejaVu Sans"/>
              </a:defRPr>
            </a:pPr>
            <a:r>
              <a:t>CA · Canais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949440" y="4297679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22592" y="4352543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27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06055" y="438454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087F83"/>
                </a:solidFill>
                <a:latin typeface="DejaVu Sans"/>
              </a:defRPr>
            </a:pPr>
            <a:r>
              <a:t>ST · Ação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540496" y="4297679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613648" y="4352543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28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131552" y="4297679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204704" y="4352543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29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85216" y="4837175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8368" y="4892039"/>
            <a:ext cx="2926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41832" y="492404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087F83"/>
                </a:solidFill>
                <a:latin typeface="DejaVu Sans"/>
              </a:defRPr>
            </a:pPr>
            <a:r>
              <a:t>ST · Dezembro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176272" y="4837175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3767328" y="4837175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5358383" y="4837175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6949440" y="4837175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8540496" y="4837175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0131552" y="4837175"/>
            <a:ext cx="1490472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ST = Stories   •   RE = Reel   •   CA = Carrossel   •   27/11: promoção somente se aprovada; caso contrário, seleção comum.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Uma rotina simples para cada 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Definir nomes e horários com a equipe. As funções abaixo são sugestões de organização.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93392"/>
            <a:ext cx="2706624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2176272"/>
            <a:ext cx="420624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17420"/>
            <a:ext cx="2743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743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16313A"/>
                </a:solidFill>
                <a:latin typeface="DejaVu Sans"/>
              </a:defRPr>
            </a:pPr>
            <a:r>
              <a:t>PREPARAR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40156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Responsável pelo perfil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187952"/>
            <a:ext cx="237744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566E74"/>
                </a:solidFill>
                <a:latin typeface="DejaVu Sans"/>
              </a:defRPr>
            </a:pPr>
            <a:r>
              <a:t>Escolher o tema, abrir a ficha e listar o que falta.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1993392"/>
            <a:ext cx="2706624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2176272"/>
            <a:ext cx="420624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217420"/>
            <a:ext cx="2743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743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16313A"/>
                </a:solidFill>
                <a:latin typeface="DejaVu Sans"/>
              </a:defRPr>
            </a:pPr>
            <a:r>
              <a:t>CAPTAR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40156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Pessoa que está na loja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187952"/>
            <a:ext cx="237744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566E74"/>
                </a:solidFill>
                <a:latin typeface="DejaVu Sans"/>
              </a:defRPr>
            </a:pPr>
            <a:r>
              <a:t>Gravar ou fotografar os takes previstos.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1993392"/>
            <a:ext cx="2706624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19672" y="2176272"/>
            <a:ext cx="420624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2217420"/>
            <a:ext cx="2743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743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16313A"/>
                </a:solidFill>
                <a:latin typeface="DejaVu Sans"/>
              </a:defRPr>
            </a:pPr>
            <a:r>
              <a:t>APROVAR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40156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Gestão / responsável comercial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187952"/>
            <a:ext cx="237744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566E74"/>
                </a:solidFill>
                <a:latin typeface="DejaVu Sans"/>
              </a:defRPr>
            </a:pPr>
            <a:r>
              <a:t>Validar dados, estoque, contato e eventual oferta.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26296" y="1993392"/>
            <a:ext cx="2706624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81744" y="2176272"/>
            <a:ext cx="420624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54896" y="2217420"/>
            <a:ext cx="2743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1744" y="2743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16313A"/>
                </a:solidFill>
                <a:latin typeface="DejaVu Sans"/>
              </a:defRPr>
            </a:pPr>
            <a:r>
              <a:t>PUBLICAR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340156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Responsável pelo perfil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744" y="4187952"/>
            <a:ext cx="237744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566E74"/>
                </a:solidFill>
                <a:latin typeface="DejaVu Sans"/>
              </a:defRPr>
            </a:pPr>
            <a:r>
              <a:t>Revisar, publicar, responder e registrar resultados.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Grave em lotes e reaproveite imagens. Confirme a disponibilidade dos produtos novamente no dia da postagem.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Semana 1 · Apresentar 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Agenda de execução • Publicações destacadas; os outros dias sustentam a produção e o atendimento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47088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470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ENTREGA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" y="2167128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03704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01 · dom.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203704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Reunir identidade, dados e links oficiais.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03704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Pasta 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" y="2660904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02 · seg.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69748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Planejar / captar entrada, loja e três closes.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697480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Banco visual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" y="3154680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191256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03 · 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91256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Publicar Stories de apresentação e responder.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191256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" y="3648456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85032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04 · qua.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68503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Editar e aprovar o Reel de apresentação.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685032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Reel pronto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8" y="4142232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178808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05 · qui.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17880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Publicar Reel “Conheça a Central”.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178808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Reel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8" y="4636008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672584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06 · sex.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672584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Escolher categoria; conferir link e estoque.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672584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Stories prontos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1208" y="5129784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166360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07 · sáb.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516636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Publicar Stories da categoria.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166360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1208" y="5623560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660136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08 · dom.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19" y="5660136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Registrar resultados e dúvidas da semana.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660136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Resumo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0" y="1847088"/>
            <a:ext cx="2880360" cy="4078224"/>
          </a:xfrm>
          <a:prstGeom prst="roundRect">
            <a:avLst>
              <a:gd name="adj" fmla="val 12000"/>
            </a:avLst>
          </a:prstGeom>
          <a:solidFill>
            <a:srgbClr val="163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97112" y="207568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ABF75"/>
                </a:solidFill>
                <a:latin typeface="DejaVu Sans"/>
              </a:defRPr>
            </a:pPr>
            <a:r>
              <a:t>FOCO DA SEMANA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7112" y="2660904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Mostrar onde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a loja está.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97112" y="3886200"/>
            <a:ext cx="24688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FFFFFF"/>
                </a:solidFill>
                <a:latin typeface="DejaVu Sans"/>
              </a:defRPr>
            </a:pPr>
            <a:r>
              <a:t>Captação: entrada, visão geral e três closes.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FFFFFF"/>
                </a:solidFill>
                <a:latin typeface="DejaVu Sans"/>
              </a:defRPr>
            </a:pPr>
          </a:p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FFFFFF"/>
                </a:solidFill>
                <a:latin typeface="DejaVu Sans"/>
              </a:defRPr>
            </a:pPr>
            <a:r>
              <a:t>02/11 é feriado: confirmar abertura. Se fechada, captar no dia 3 antes da postagem.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Apresentar a loja em três telas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03/11 · terça-feira  •  Stories verticais  •  Exemplo de sequência, com campos para os dados oficiais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01 /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26464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FOTO DA ENTRADA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Você já conhece a Central Suplementos?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Conheça a loja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52344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62072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02 /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71215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84448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2656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LOCALIZAÇÃO 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9503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Estamos no Mercado Central.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9503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Adicionar localização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10328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0056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3208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03 /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42432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VISÃO DO INTERIOR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Veja um pouco da nossa loja.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47488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Acompanhe o perfil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0920" y="1856231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34072" y="1897379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91272" y="1842515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Separar três imagens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2" y="2167127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Entrada, localização e interior.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60920" y="2788920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34072" y="2830068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91272" y="2775203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Adicionar os dados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2" y="3099815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Usar o ponto de localização correto.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60920" y="3721608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34072" y="3762756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91272" y="3707892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Publicar e responder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91272" y="4032504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Revisar a leitura e atender às respostas.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60920" y="4654296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34072" y="4695444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91272" y="4640580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Guardar no destaque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91272" y="4965192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Criar ou atualizar “A loja”.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Conferir: endereço, localização marcada e funcionamento da loja.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Reel: “Conheça a Central”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05/11 · quinta-feira  •  Reel de 15 segundos  •  Gravar na vertical e manter os textos dentro da área segura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2679192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" y="2029968"/>
            <a:ext cx="95097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071116"/>
            <a:ext cx="8046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0–3s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633472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78508" y="2807208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3086100"/>
            <a:ext cx="22402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ENTRADA / FACHADA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023360"/>
            <a:ext cx="24231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1">
                <a:solidFill>
                  <a:srgbClr val="16313A"/>
                </a:solidFill>
                <a:latin typeface="DejaVu Sans"/>
              </a:defRPr>
            </a:pPr>
            <a:r>
              <a:t>Conheça a Central Suplementos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874519"/>
            <a:ext cx="2679192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57016" y="2029968"/>
            <a:ext cx="95097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0168" y="2071116"/>
            <a:ext cx="8046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3–7s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57016" y="2633472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3148" y="2807208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8456" y="3086100"/>
            <a:ext cx="22402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VISÃO DAS PRATELEIRAS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6" y="4023360"/>
            <a:ext cx="24231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1">
                <a:solidFill>
                  <a:srgbClr val="16313A"/>
                </a:solidFill>
                <a:latin typeface="DejaVu Sans"/>
              </a:defRPr>
            </a:pPr>
            <a:r>
              <a:t>No Mercado Central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874519"/>
            <a:ext cx="2679192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91656" y="2029968"/>
            <a:ext cx="95097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2071116"/>
            <a:ext cx="8046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7–12s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91656" y="2633472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47788" y="2807208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3096" y="3086100"/>
            <a:ext cx="22402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TRÊS CLOSES DE PRODUTOS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023360"/>
            <a:ext cx="24231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1">
                <a:solidFill>
                  <a:srgbClr val="16313A"/>
                </a:solidFill>
                <a:latin typeface="DejaVu Sans"/>
              </a:defRPr>
            </a:pPr>
            <a:r>
              <a:t>Veja algumas opções disponíveis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1874519"/>
            <a:ext cx="2679192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26296" y="2029968"/>
            <a:ext cx="95097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9448" y="2071116"/>
            <a:ext cx="8046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12–15s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26296" y="2633472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82428" y="2807208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17736" y="3086100"/>
            <a:ext cx="22402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INTERIOR OU ENTRADA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4023360"/>
            <a:ext cx="24231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1">
                <a:solidFill>
                  <a:srgbClr val="16313A"/>
                </a:solidFill>
                <a:latin typeface="DejaVu Sans"/>
              </a:defRPr>
            </a:pPr>
            <a:r>
              <a:t>Acompanhe nosso perfil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54315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LEGENDA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5394960"/>
            <a:ext cx="9738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203941"/>
                </a:solidFill>
                <a:latin typeface="DejaVu Sans"/>
              </a:defRPr>
            </a:pPr>
            <a:r>
              <a:t>Uma apresentação rápida da Central Suplementos, no Mercado Central. Acompanhe o perfil para conhecer a loja e os produtos disponíveis.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606247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613562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Antes de publicar: conferir a capa, a leitura no celular, o áudio e as informações da loja.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Mostrar uma categoria e facilitar o acesso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07/11 · sábado  •  Stories verticais  •  Exemplo de sequência, com campos para os dados oficiais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01 /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26464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PRATELEIRA DA CATEGORIA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Hoje: algumas opções de [categoria].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Conheça as opções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52344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62072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02 /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71215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84448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2656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CLOSE DE 2 OU 3 ITENS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9503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Identifique cada produto pelo nome.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9503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Mostrar com clareza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10328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0056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3208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03 /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42432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CATEGORIA NO SITE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Explore mais opções no site.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47488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Link da categoria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0920" y="1856231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34072" y="1897379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91272" y="1842515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Escolher uma categoria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2" y="2167127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Usar uma que tenha opções disponíveis.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60920" y="2788920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34072" y="2830068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91272" y="2775203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Conferir o destino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2" y="3099815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Abrir o link e testar no celular.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60920" y="3721608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34072" y="3762756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91272" y="3707892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Montar três telas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91272" y="4032504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Prateleira, produtos e convite.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60920" y="4654296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34072" y="4695444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91272" y="4640580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Publicar o link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91272" y="4965192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Direcionar à categoria mostrada.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O link deve abrir a categoria apresentada, e não uma página que exija nova procura.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Semana 2 · Explorar os produtos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Agenda de execução • Publicações destacadas; os outros dias sustentam a produção e o atendimento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47088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470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ENTREGA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" y="2167128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03704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09 · seg.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203704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Fotografar whey e conferir dados.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03704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Fotos + dados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" y="2660904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10 · 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69748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Publicar enquete com marcas disponíveis.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697480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" y="3154680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191256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11 · qua.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91256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Salvar a enquete e montar o carrossel.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191256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4 páginas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" y="3648456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85032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12 · qui.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68503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Publicar carrossel “Procurando whey?”.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685032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Carrossel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8" y="4142232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178808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13 · sex.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17880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Preparar o produto escolhido pela enquete.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178808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Foto + link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8" y="4636008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672584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14 · sáb.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672584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Publicar resultado e detalhes do produto.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672584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1208" y="5129784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166360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15 · dom.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516636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Registrar resultados e organizar dúvidas.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166360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Resumo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1847088"/>
            <a:ext cx="2880360" cy="4078224"/>
          </a:xfrm>
          <a:prstGeom prst="roundRect">
            <a:avLst>
              <a:gd name="adj" fmla="val 12000"/>
            </a:avLst>
          </a:prstGeom>
          <a:solidFill>
            <a:srgbClr val="163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97112" y="207568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ABF75"/>
                </a:solidFill>
                <a:latin typeface="DejaVu Sans"/>
              </a:defRPr>
            </a:pPr>
            <a:r>
              <a:t>FOCO DA SEMANA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7112" y="2660904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Apresentar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as opções.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97112" y="3886200"/>
            <a:ext cx="24688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FFFFFF"/>
                </a:solidFill>
                <a:latin typeface="DejaVu Sans"/>
              </a:defRPr>
            </a:pPr>
            <a:r>
              <a:t>Fotografar duas ou três marcas disponíveis.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FFFFFF"/>
                </a:solidFill>
                <a:latin typeface="DejaVu Sans"/>
              </a:defRPr>
            </a:pPr>
          </a:p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FFFFFF"/>
                </a:solidFill>
                <a:latin typeface="DejaVu Sans"/>
              </a:defRPr>
            </a:pPr>
            <a:r>
              <a:t>Conferir versão, tamanho e sabor. Nesta etapa, não é necessária comparação técnica.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Enquete: o público escolhe o próximo assunto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10/11 · terça-feira  •  Stories verticais  •  Exemplo de sequência, com campos para os dados oficiais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01 /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26464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MARCAS DISPONÍVEIS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Qual você quer conhecer melhor?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Veja as opções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52344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62072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02 /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71215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84448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2656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FOTO COM NOMES LEGÍVEIS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9503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Escolha uma das marcas.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9503" y="4791456"/>
            <a:ext cx="1700784" cy="256032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35224" y="4837176"/>
            <a:ext cx="160934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087F83"/>
                </a:solidFill>
                <a:latin typeface="DejaVu Sans"/>
              </a:defRPr>
            </a:pPr>
            <a:r>
              <a:t>[Marca A]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9503" y="5102352"/>
            <a:ext cx="1700784" cy="256032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35224" y="5148072"/>
            <a:ext cx="160934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087F83"/>
                </a:solidFill>
                <a:latin typeface="DejaVu Sans"/>
              </a:defRPr>
            </a:pPr>
            <a:r>
              <a:t>[Marca B]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10328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0056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3208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03 / 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0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742432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OUTRA MARCA, SE HOUVER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Vamos mostrar a escolhida no sábado.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47488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Participar da enquete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60920" y="1856231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34072" y="1897379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91272" y="1842515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Selecionar 2 ou 3 marcas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91272" y="2167127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Conferir se estão disponíveis.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60920" y="2788920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34072" y="2830068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91272" y="2775203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Identificar as opções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91272" y="3099815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Nome legível junto da imagem.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60920" y="3721608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34072" y="3762756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91272" y="3707892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Criar a enquete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91272" y="4032504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Dividir em duas, se necessário.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60920" y="4654296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34072" y="4695444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91272" y="4640580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Salvar o resultado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91272" y="4965192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Registrar antes de expirar.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O resultado orienta o conteúdo de 14/11. Não atribuir ao público uma escolha que não aconteceu.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Carrossel: “Procurando whey?”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12/11 · quinta-feira  •  Carrossel com quatro páginas  •  Uma ideia por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84248"/>
            <a:ext cx="192024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" y="2121408"/>
            <a:ext cx="448056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162556"/>
            <a:ext cx="301751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724912"/>
            <a:ext cx="166420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16313A"/>
                </a:solidFill>
                <a:latin typeface="DejaVu Sans"/>
              </a:defRPr>
            </a:pPr>
            <a:r>
              <a:t>Procurando whey?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" y="3739896"/>
            <a:ext cx="320040" cy="41148"/>
          </a:xfrm>
          <a:prstGeom prst="rect">
            <a:avLst/>
          </a:prstGeom>
          <a:solidFill>
            <a:srgbClr val="EAB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3968496"/>
            <a:ext cx="1664208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Conheça algumas opções disponíveis na Central.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5010912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1">
                <a:solidFill>
                  <a:srgbClr val="087F83"/>
                </a:solidFill>
                <a:latin typeface="DejaVu Sans"/>
              </a:defRPr>
            </a:pPr>
            <a:r>
              <a:t>CENTRAL SUPLEMENTOS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79191" y="1984248"/>
            <a:ext cx="192024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07208" y="2121408"/>
            <a:ext cx="448056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162556"/>
            <a:ext cx="301751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2724912"/>
            <a:ext cx="166420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16313A"/>
                </a:solidFill>
                <a:latin typeface="DejaVu Sans"/>
              </a:defRPr>
            </a:pPr>
            <a:r>
              <a:t>Marcas disponíveis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07208" y="3739896"/>
            <a:ext cx="320040" cy="41148"/>
          </a:xfrm>
          <a:prstGeom prst="rect">
            <a:avLst/>
          </a:prstGeom>
          <a:solidFill>
            <a:srgbClr val="EAB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7208" y="3968496"/>
            <a:ext cx="1664208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Inserir fotos reais e nomes conferidos.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5010912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1">
                <a:solidFill>
                  <a:srgbClr val="087F83"/>
                </a:solidFill>
                <a:latin typeface="DejaVu Sans"/>
              </a:defRPr>
            </a:pPr>
            <a:r>
              <a:t>CENTRAL SUPLEMENTOS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64024" y="1984248"/>
            <a:ext cx="192024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92040" y="2121408"/>
            <a:ext cx="448056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65192" y="2162556"/>
            <a:ext cx="301751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724912"/>
            <a:ext cx="166420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16313A"/>
                </a:solidFill>
                <a:latin typeface="DejaVu Sans"/>
              </a:defRPr>
            </a:pPr>
            <a:r>
              <a:t>Confira os detalhes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3739896"/>
            <a:ext cx="320040" cy="41148"/>
          </a:xfrm>
          <a:prstGeom prst="rect">
            <a:avLst/>
          </a:prstGeom>
          <a:solidFill>
            <a:srgbClr val="EAB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3968496"/>
            <a:ext cx="1664208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Versão, tamanho e sabor: veja a embalagem ou o cadastro.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5010912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1">
                <a:solidFill>
                  <a:srgbClr val="087F83"/>
                </a:solidFill>
                <a:latin typeface="DejaVu Sans"/>
              </a:defRPr>
            </a:pPr>
            <a:r>
              <a:t>CENTRAL SUPLEMENTOS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48856" y="1984248"/>
            <a:ext cx="192024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76872" y="2121408"/>
            <a:ext cx="448056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0024" y="2162556"/>
            <a:ext cx="301751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2724912"/>
            <a:ext cx="166420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16313A"/>
                </a:solidFill>
                <a:latin typeface="DejaVu Sans"/>
              </a:defRPr>
            </a:pPr>
            <a:r>
              <a:t>Explore a categoria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76872" y="3739896"/>
            <a:ext cx="320040" cy="41148"/>
          </a:xfrm>
          <a:prstGeom prst="rect">
            <a:avLst/>
          </a:prstGeom>
          <a:solidFill>
            <a:srgbClr val="EAB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76872" y="3968496"/>
            <a:ext cx="1664208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Acesse o site pelo link do perfil.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5010912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1">
                <a:solidFill>
                  <a:srgbClr val="087F83"/>
                </a:solidFill>
                <a:latin typeface="DejaVu Sans"/>
              </a:defRPr>
            </a:pPr>
            <a:r>
              <a:t>CENTRAL SUPLEMENTOS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938528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53728" y="1979676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0928" y="19248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Montar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8" y="2249424"/>
            <a:ext cx="182880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Uma ideia por página.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0576" y="2871216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53728" y="2912364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0928" y="28575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Revisar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0928" y="3182112"/>
            <a:ext cx="182880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Dados e leitura.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0576" y="3803904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53728" y="3845052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0928" y="37901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Publicar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0928" y="4114800"/>
            <a:ext cx="182880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Conferir link do perfil.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Legenda: apresente as opções e convide a conferir os detalhes. Não transformar o post em comparação técnica.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Apresentar a escolha da enquete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14/11 · sábado  •  Stories verticais  •  Exemplo de sequência, com campos para os dados oficiais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01 /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26464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RESULTADO SALVO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Vocês escolheram conhecer melhor [produto].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Mostrar o resultado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52344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62072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02 /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71215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84448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2656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FOTO LIMPA DO PRODUTO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9503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[Nome]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[Versão, tamanho e sabor]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9503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Apresentar os dados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10328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0056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3208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03 /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42432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DETALHE DA EMBALAGEM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Veja os detalhes no site.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47488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Link do produto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0920" y="1856231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34072" y="1897379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91272" y="1842515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Conferir a enquete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2" y="2167127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Usar o resultado real.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60920" y="2788920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34072" y="2830068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91272" y="2775203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Validar o produto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2" y="3099815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Nome completo e apresentação.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60920" y="3721608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34072" y="3762756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91272" y="3707892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Montar a sequência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91272" y="4032504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Resultado, produto e link.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60920" y="4654296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34072" y="4695444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91272" y="4640580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Usar um plano 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91272" y="4965192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Empate: explicar. Sem votos: escolha da loja.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Se não houver votos, apresentar um item disponível sem dizer que foi escolhido pelo público.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Semana 3 · Aproximar e conversar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Agenda de execução • Publicações destacadas; os outros dias sustentam a produção e o atendimento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47088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470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ENTREGA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" y="2167128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03704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16 · seg.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203704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Gravar bastidores e preparar a pergunta.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03704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3 a 5 takes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" y="2660904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17 · 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69748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Publicar a caixa de perguntas.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697480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" y="3154680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191256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18 · qua.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91256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Separar dúvidas e editar o Reel.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191256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Reel pronto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" y="3648456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85032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19 · qui.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68503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Publicar Reel “Central por dentro”.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685032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Reel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8" y="4142232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178808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20 · sex.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17880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Preparar resposta e conferir atendimento.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178808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Resposta pronta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8" y="4636008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672584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21 · sáb.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672584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Publicar resposta comercial e WhatsApp.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672584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1208" y="5129784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166360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22 · dom.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516636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Registrar resultados e organizar arquivos.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166360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Resumo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1847088"/>
            <a:ext cx="2880360" cy="4078224"/>
          </a:xfrm>
          <a:prstGeom prst="roundRect">
            <a:avLst>
              <a:gd name="adj" fmla="val 12000"/>
            </a:avLst>
          </a:prstGeom>
          <a:solidFill>
            <a:srgbClr val="163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97112" y="207568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ABF75"/>
                </a:solidFill>
                <a:latin typeface="DejaVu Sans"/>
              </a:defRPr>
            </a:pPr>
            <a:r>
              <a:t>FOCO DA SEMANA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7112" y="2660904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Abrir espaço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para conversar.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97112" y="3886200"/>
            <a:ext cx="24688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FFFFFF"/>
                </a:solidFill>
                <a:latin typeface="DejaVu Sans"/>
              </a:defRPr>
            </a:pPr>
            <a:r>
              <a:t>Captar mãos organizando produtos e detalhes das prateleiras.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FFFFFF"/>
                </a:solidFill>
                <a:latin typeface="DejaVu Sans"/>
              </a:defRPr>
            </a:pPr>
          </a:p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FFFFFF"/>
                </a:solidFill>
                <a:latin typeface="DejaVu Sans"/>
              </a:defRPr>
            </a:pPr>
            <a:r>
              <a:t>Não mostrar clientes ou dados de pedidos sem autorização. Conferir atendimento no feriado de 20/11.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Receber perguntas sobre 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17/11 · terça-feira  •  Stories verticais  •  Exemplo de sequência, com campos para os dados oficiais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01 /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26464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FOTO DA LOJA OU EQUIPE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Quer conhecer melhor a Central?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Abra a conversa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52344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62072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02 /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71215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84448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2656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FUNDO LIMPO / LOJA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9503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O que você gostaria de saber sobre a loja ou os produtos?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9503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Caixa de perguntas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10328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0056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3208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03 /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42432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DETALHE DA LOJA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Pode perguntar sobre localização, atendimento ou disponibilidade.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47488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Enviar uma pergunta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0920" y="1856231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34072" y="1897379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91272" y="1842515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Preparar o convite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2" y="2167127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Usar uma imagem simples.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60920" y="2788920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34072" y="2830068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91272" y="2775203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Adicionar a caixa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2" y="3099815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Pergunta aberta e específica.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60920" y="3721608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34072" y="3762756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91272" y="3707892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Dar exemplos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91272" y="4032504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Facilitar a participação.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60920" y="4654296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34072" y="4695444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91272" y="4640580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Organizar as respostas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91272" y="4965192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Loja, produtos, site e atendimento.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Separar as dúvidas comerciais. Preservar a identificação de quem enviou a pergunta.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Reel: “Central por dentro”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19/11 · quinta-feira  •  Reel de 15 segundos  •  Gravar na vertical e manter os textos dentro da área segura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2679192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" y="2029968"/>
            <a:ext cx="95097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071116"/>
            <a:ext cx="8046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0–3s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633472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78508" y="2807208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3086100"/>
            <a:ext cx="22402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VISÃO GERAL DA LOJA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023360"/>
            <a:ext cx="24231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1">
                <a:solidFill>
                  <a:srgbClr val="16313A"/>
                </a:solidFill>
                <a:latin typeface="DejaVu Sans"/>
              </a:defRPr>
            </a:pPr>
            <a:r>
              <a:t>Um pouco da Central por dentro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874519"/>
            <a:ext cx="2679192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57016" y="2029968"/>
            <a:ext cx="95097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0168" y="2071116"/>
            <a:ext cx="8046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3–8s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57016" y="2633472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3148" y="2807208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8456" y="3086100"/>
            <a:ext cx="22402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MÃOS ORGANIZANDO PRODUTOS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6" y="4023360"/>
            <a:ext cx="24231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1">
                <a:solidFill>
                  <a:srgbClr val="16313A"/>
                </a:solidFill>
                <a:latin typeface="DejaVu Sans"/>
              </a:defRPr>
            </a:pPr>
            <a:r>
              <a:t>Organização no dia a dia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874519"/>
            <a:ext cx="2679192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91656" y="2029968"/>
            <a:ext cx="95097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2071116"/>
            <a:ext cx="8046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8–12s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91656" y="2633472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47788" y="2807208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3096" y="3086100"/>
            <a:ext cx="22402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DETALHES DAS PRATELEIRAS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023360"/>
            <a:ext cx="24231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1">
                <a:solidFill>
                  <a:srgbClr val="16313A"/>
                </a:solidFill>
                <a:latin typeface="DejaVu Sans"/>
              </a:defRPr>
            </a:pPr>
            <a:r>
              <a:t>Um olhar pelas nossas prateleiras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1874519"/>
            <a:ext cx="2679192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26296" y="2029968"/>
            <a:ext cx="950976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9448" y="2071116"/>
            <a:ext cx="8046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12–15s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26296" y="2633472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82428" y="2807208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17736" y="3086100"/>
            <a:ext cx="22402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INTERIOR OU ENTRADA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4023360"/>
            <a:ext cx="24231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1">
                <a:solidFill>
                  <a:srgbClr val="16313A"/>
                </a:solidFill>
                <a:latin typeface="DejaVu Sans"/>
              </a:defRPr>
            </a:pPr>
            <a:r>
              <a:t>Salve para visitar a loja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54315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LEGENDA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5394960"/>
            <a:ext cx="9738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203941"/>
                </a:solidFill>
                <a:latin typeface="DejaVu Sans"/>
              </a:defRPr>
            </a:pPr>
            <a:r>
              <a:t>Um pouco dos bastidores da Central Suplementos. Salve este vídeo para lembrar da loja na sua próxima visita ao Mercado Central.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606247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613562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Antes de publicar: conferir a capa, a leitura no celular, o áudio e as informações da loja.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Responder uma dúvida e orientar o contato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21/11 · sábado  •  Stories verticais  •  Exemplo de sequência, com campos para os dados oficiais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01 /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26464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PERGUNTA RECEBIDA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Como consultar a disponibilidade de um produto?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Uma dúvida por vez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52344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62072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02 /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71215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84448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2656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PRODUTO OU PRATELEIRA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9503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Envie nome, versão, tamanho e sabor que procura.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9503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Explique o caminho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10328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0056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3208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03 /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42432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ATENDIMENTO / LOJA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Precisa de ajuda? Fale com a equipe.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47488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Link do WhatsApp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0920" y="1856231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34072" y="1897379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91272" y="1842515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Escolher uma pergunta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2" y="2167127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Preferir uma dúvida comercial real.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60920" y="2788920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34072" y="2830068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91272" y="2775203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Escrever uma resposta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2" y="3099815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Curta, específica e conferida.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60920" y="3721608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34072" y="3762756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91272" y="3707892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Adicionar contato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91272" y="4032504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Testar o WhatsApp oficial.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60920" y="4654296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34072" y="4695444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91272" y="4640580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Se ninguém perguntar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91272" y="4965192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Explicar como consultar disponibilidade.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Não exibir nome ou foto de quem perguntou sem autorização. Não prometer estoque sem conferir.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Semana 4 · Conectar os canais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Agenda de execução • Publicações destacadas; os outros dias sustentam a produção e o atendimento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47088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470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ENTREGA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" y="2167128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03704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23 · seg.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203704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Testar canais e decidir ação de Black Friday.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03704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Decisão aprovada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" y="2660904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24 · 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69748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Publicar navegação por uma categoria.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697480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" y="3154680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191256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25 · qua.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91256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Montar carrossel e aprovar ação de sexta.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191256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Peças prontas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" y="3648456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685032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26 · qui.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68503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Publicar canais e revisar ação de sexta.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685032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Carrossel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8" y="4142232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178808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27 · sex.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17880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16313A"/>
                </a:solidFill>
                <a:latin typeface="DejaVu Sans"/>
              </a:defRPr>
            </a:pPr>
            <a:r>
              <a:t>Publicar oferta aprovada ou seleção comum.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178808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8" y="4636008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672584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28 · sáb.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672584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Responder contatos e registrar dúvidas.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672584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Oportunidades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1208" y="5129784"/>
            <a:ext cx="7744968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166360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566E74"/>
                </a:solidFill>
                <a:latin typeface="DejaVu Sans"/>
              </a:defRPr>
            </a:pPr>
            <a:r>
              <a:t>29 · dom.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516636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0">
                <a:solidFill>
                  <a:srgbClr val="16313A"/>
                </a:solidFill>
                <a:latin typeface="DejaVu Sans"/>
              </a:defRPr>
            </a:pPr>
            <a:r>
              <a:t>Consolidar o mês e preparar a enquete final.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166360"/>
            <a:ext cx="151790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0">
                <a:solidFill>
                  <a:srgbClr val="566E74"/>
                </a:solidFill>
                <a:latin typeface="DejaVu Sans"/>
              </a:defRPr>
            </a:pPr>
            <a:r>
              <a:t>Resumo mensal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1847088"/>
            <a:ext cx="2880360" cy="4078224"/>
          </a:xfrm>
          <a:prstGeom prst="roundRect">
            <a:avLst>
              <a:gd name="adj" fmla="val 12000"/>
            </a:avLst>
          </a:prstGeom>
          <a:solidFill>
            <a:srgbClr val="163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97112" y="207568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EABF75"/>
                </a:solidFill>
                <a:latin typeface="DejaVu Sans"/>
              </a:defRPr>
            </a:pPr>
            <a:r>
              <a:t>FOCO DA SEMANA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7112" y="2660904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Facilitar o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próximo passo.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97112" y="3886200"/>
            <a:ext cx="24688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FFFFFF"/>
                </a:solidFill>
                <a:latin typeface="DejaVu Sans"/>
              </a:defRPr>
            </a:pPr>
            <a:r>
              <a:t>Testar site, links de categorias e WhatsApp.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FFFFFF"/>
                </a:solidFill>
                <a:latin typeface="DejaVu Sans"/>
              </a:defRPr>
            </a:pPr>
          </a:p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FFFFFF"/>
                </a:solidFill>
                <a:latin typeface="DejaVu Sans"/>
              </a:defRPr>
            </a:pPr>
            <a:r>
              <a:t>A Black Friday é opcional: sem oferta aprovada, publicar uma seleção comum, sem sugerir desconto.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Mostrar como navegar pelo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24/11 · terça-feira  •  Stories verticais  •  Exemplo de sequência, com campos para os dados oficiais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01 /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26464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GRAVAÇÃO REAL DA TELA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Entre na categoria que você procura.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Abrir a categoria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52344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62072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02 /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71215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84448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2656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PÁGINA REAL DO PRODUTO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9503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Abra uma opção e confira os detalhes.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9503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Mostrar o caminho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10328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0056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3208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03 /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42432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CATEGORIA APRESENTADA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Conheça as opções no seu ritmo.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47488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Link da categoria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0920" y="1856231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34072" y="1897379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91272" y="1842515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Gravar no celular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2" y="2167127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Site → categoria → produto.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60920" y="2788920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34072" y="2830068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91272" y="2775203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Rolar lentamente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2" y="3099815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Dar tempo para ler os detalhes.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60920" y="3721608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34072" y="3762756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91272" y="3707892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Dividir em telas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91272" y="4032504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Duas ou três partes curtas.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60920" y="4654296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34072" y="4695444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91272" y="4640580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Testar o link final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91272" y="4965192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Abrir a categoria demonstrada.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Fechar notificações e não exibir dados pessoais, carrinho identificado ou informações de conta.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Carrossel: escolha seu caminho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26/11 · quinta-feira  •  Carrossel com quatro páginas  •  Uma ideia por página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84248"/>
            <a:ext cx="192024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2376" y="2121408"/>
            <a:ext cx="448056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162556"/>
            <a:ext cx="301751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724912"/>
            <a:ext cx="166420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16313A"/>
                </a:solidFill>
                <a:latin typeface="DejaVu Sans"/>
              </a:defRPr>
            </a:pPr>
            <a:r>
              <a:t>Como você prefere conhecer a Central?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" y="3739896"/>
            <a:ext cx="320040" cy="41148"/>
          </a:xfrm>
          <a:prstGeom prst="rect">
            <a:avLst/>
          </a:prstGeom>
          <a:solidFill>
            <a:srgbClr val="EAB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3968496"/>
            <a:ext cx="1664208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Apresente os caminhos disponíveis.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5010912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1">
                <a:solidFill>
                  <a:srgbClr val="087F83"/>
                </a:solidFill>
                <a:latin typeface="DejaVu Sans"/>
              </a:defRPr>
            </a:pPr>
            <a:r>
              <a:t>CENTRAL SUPLEMENTOS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79191" y="1984248"/>
            <a:ext cx="192024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07208" y="2121408"/>
            <a:ext cx="448056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162556"/>
            <a:ext cx="301751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2724912"/>
            <a:ext cx="166420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16313A"/>
                </a:solidFill>
                <a:latin typeface="DejaVu Sans"/>
              </a:defRPr>
            </a:pPr>
            <a:r>
              <a:t>Pelo Instagram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07208" y="3739896"/>
            <a:ext cx="320040" cy="41148"/>
          </a:xfrm>
          <a:prstGeom prst="rect">
            <a:avLst/>
          </a:prstGeom>
          <a:solidFill>
            <a:srgbClr val="EAB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7208" y="3968496"/>
            <a:ext cx="1664208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Produtos, novidades e bastidores.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5010912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1">
                <a:solidFill>
                  <a:srgbClr val="087F83"/>
                </a:solidFill>
                <a:latin typeface="DejaVu Sans"/>
              </a:defRPr>
            </a:pPr>
            <a:r>
              <a:t>CENTRAL SUPLEMENTOS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64024" y="1984248"/>
            <a:ext cx="192024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92040" y="2121408"/>
            <a:ext cx="448056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65192" y="2162556"/>
            <a:ext cx="301751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724912"/>
            <a:ext cx="166420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16313A"/>
                </a:solidFill>
                <a:latin typeface="DejaVu Sans"/>
              </a:defRPr>
            </a:pPr>
            <a:r>
              <a:t>Pelo site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3739896"/>
            <a:ext cx="320040" cy="41148"/>
          </a:xfrm>
          <a:prstGeom prst="rect">
            <a:avLst/>
          </a:prstGeom>
          <a:solidFill>
            <a:srgbClr val="EAB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3968496"/>
            <a:ext cx="1664208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Categorias e detalhes dos produtos.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5010912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1">
                <a:solidFill>
                  <a:srgbClr val="087F83"/>
                </a:solidFill>
                <a:latin typeface="DejaVu Sans"/>
              </a:defRPr>
            </a:pPr>
            <a:r>
              <a:t>CENTRAL SUPLEMENTOS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48856" y="1984248"/>
            <a:ext cx="192024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76872" y="2121408"/>
            <a:ext cx="448056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0024" y="2162556"/>
            <a:ext cx="301751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2724912"/>
            <a:ext cx="166420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16313A"/>
                </a:solidFill>
                <a:latin typeface="DejaVu Sans"/>
              </a:defRPr>
            </a:pPr>
            <a:r>
              <a:t>WhatsApp ou loja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76872" y="3739896"/>
            <a:ext cx="320040" cy="41148"/>
          </a:xfrm>
          <a:prstGeom prst="rect">
            <a:avLst/>
          </a:prstGeom>
          <a:solidFill>
            <a:srgbClr val="EAB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76872" y="3968496"/>
            <a:ext cx="1664208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Conversar com a equipe ou visitar o Mercado Central.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6872" y="5010912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1">
                <a:solidFill>
                  <a:srgbClr val="087F83"/>
                </a:solidFill>
                <a:latin typeface="DejaVu Sans"/>
              </a:defRPr>
            </a:pPr>
            <a:r>
              <a:t>CENTRAL SUPLEMENTOS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938528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53728" y="1979676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0928" y="19248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Preencher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8" y="2249424"/>
            <a:ext cx="182880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Contatos oficiais.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0576" y="2871216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53728" y="2912364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0928" y="28575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Revisar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0928" y="3182112"/>
            <a:ext cx="182880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Endereço e links.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0576" y="3803904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53728" y="3845052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0928" y="37901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Convidar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0928" y="4114800"/>
            <a:ext cx="182880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Escolha seu caminho.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CTA: “Escolha o caminho mais fácil para você.” Incluir contatos e endereço conferidos na última página.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27/11 · Dois caminhos para a Black 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A decisão deve estar definida em 23/11 e as condições precisam de aprovação antes da publicação.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212080" cy="3813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2057400"/>
            <a:ext cx="2084831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399" y="2098548"/>
            <a:ext cx="1938527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COM PROMOÇÃO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88336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200" b="1">
                <a:solidFill>
                  <a:srgbClr val="16313A"/>
                </a:solidFill>
                <a:latin typeface="DejaVu Sans"/>
              </a:defRPr>
            </a:pPr>
            <a:r>
              <a:t>Somente com condições aprovadas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611880"/>
            <a:ext cx="47548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01  Produto participante e apresentação.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041648"/>
            <a:ext cx="47548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02  Preço e forma de pagamento conferidos.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471416"/>
            <a:ext cx="47548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03  Validade e restrições relevantes.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901184"/>
            <a:ext cx="47548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04  Link ou contato para consultar / comprar.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828800"/>
            <a:ext cx="5212080" cy="3813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56248" y="2057400"/>
            <a:ext cx="2084831" cy="292608"/>
          </a:xfrm>
          <a:prstGeom prst="roundRect">
            <a:avLst>
              <a:gd name="adj" fmla="val 12000"/>
            </a:avLst>
          </a:prstGeom>
          <a:solidFill>
            <a:srgbClr val="163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098548"/>
            <a:ext cx="1938527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SEM PROMOÇÃO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688336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200" b="1">
                <a:solidFill>
                  <a:srgbClr val="16313A"/>
                </a:solidFill>
                <a:latin typeface="DejaVu Sans"/>
              </a:defRPr>
            </a:pPr>
            <a:r>
              <a:t>Seleção de produtos disponíveis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611880"/>
            <a:ext cx="47548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01  Escolher dois ou três itens.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4041648"/>
            <a:ext cx="47548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02  Apresentar nomes e detalhes conferidos.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4471416"/>
            <a:ext cx="47548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03  Usar uma apresentação comum.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901184"/>
            <a:ext cx="47548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04  Link do produto ou WhatsApp oficial.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Sem oferta aprovada, não usar preço riscado, porcentagem ou elementos que sugiram desconto.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Fechar o mês e escolher o próximo assunto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30/11 · segunda-feira  •  Stories verticais  •  Exemplo de sequência, com campos para os dados oficiais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01 /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26464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MONTAGEM OU FOTO DA LOJA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Neste mês, mostramos um pouco da Central.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Retome o mês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52344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62072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02 /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71215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84448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2656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FUNDO SIMPLES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9503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O que você quer conhecer melhor em dezembro?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9503" y="4791456"/>
            <a:ext cx="1700784" cy="256032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35224" y="4837176"/>
            <a:ext cx="160934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087F83"/>
                </a:solidFill>
                <a:latin typeface="DejaVu Sans"/>
              </a:defRPr>
            </a:pPr>
            <a:r>
              <a:t>Produtos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9503" y="5102352"/>
            <a:ext cx="1700784" cy="256032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35224" y="5148072"/>
            <a:ext cx="160934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1">
                <a:solidFill>
                  <a:srgbClr val="087F83"/>
                </a:solidFill>
                <a:latin typeface="DejaVu Sans"/>
              </a:defRPr>
            </a:pPr>
            <a:r>
              <a:t>Bastidores da loja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10328" y="1819656"/>
            <a:ext cx="1975104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0056" y="1938528"/>
            <a:ext cx="612648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3208" y="1979676"/>
            <a:ext cx="4663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03 / 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350008"/>
            <a:ext cx="173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16313A"/>
                </a:solidFill>
                <a:latin typeface="DejaVu Sans"/>
              </a:defRPr>
            </a:pPr>
            <a:r>
              <a:t>CENTRAL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0" y="2715768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742432" y="2889503"/>
            <a:ext cx="310896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307695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PRODUTOS OU BASTIDORES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3831336"/>
            <a:ext cx="170078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203941"/>
                </a:solidFill>
                <a:latin typeface="DejaVu Sans"/>
              </a:defRPr>
            </a:pPr>
            <a:r>
              <a:t>Sua resposta ajuda a escolher os próximos conteúdos.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47488" y="5001768"/>
            <a:ext cx="1700784" cy="38404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51023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Participar da enquete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60920" y="1856231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34072" y="1897379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91272" y="1842515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Preparar a retomada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91272" y="2167127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Usar imagens já produzidas.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60920" y="2788920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34072" y="2830068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91272" y="2775203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Criar a enquete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91272" y="3099815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Produtos × bastidores da loja.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60920" y="3721608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34072" y="3762756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91272" y="3707892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Registrar a votação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91272" y="4032504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Salvar o resultado depois.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60920" y="4654296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34072" y="4695444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91272" y="4640580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Planejar dezembro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91272" y="4965192"/>
            <a:ext cx="3611879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Usar a preferência para distribuir temas.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O fechamento orienta o próximo mês. Registrar a preferência sem interpretar poucos votos como regra definitiva.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Checklist do dia de 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Usar a mesma conferência em Stories, Reels e carrosséis.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611880" cy="3639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2157984"/>
            <a:ext cx="1060704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1" y="2199132"/>
            <a:ext cx="914399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71216"/>
            <a:ext cx="321868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Dados e disponibilidade conferidos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Fotos / vídeos revisados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Link testado no celular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Aprovação comercial, quando necessária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3611880" cy="3639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2157984"/>
            <a:ext cx="1060704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199132"/>
            <a:ext cx="914399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NA HORA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871216"/>
            <a:ext cx="321868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Texto legível e dentro da área segura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Capa e sequência corretas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Áudio em volume adequado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CTA claro e um próximo passo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920240"/>
            <a:ext cx="3611880" cy="3639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2157984"/>
            <a:ext cx="1060704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2199132"/>
            <a:ext cx="914399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DEPOIS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71216"/>
            <a:ext cx="321868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Verificar a postagem publicada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Responder às interações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Anotar dúvidas recorrentes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203941"/>
                </a:solidFill>
                <a:latin typeface="DejaVu Sans"/>
              </a:defRPr>
            </a:pPr>
            <a:r>
              <a:t>□ Registrar resultados no dia seguinte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Definir um horário em que alguém possa acompanhar as respostas; ajustar depois pelos Insights.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Registrar para melhorar, não só contar posts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Criar uma linha por publicação. Anotar somente os dados disponíveis no perfil.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01952"/>
            <a:ext cx="2084831" cy="438912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020824"/>
            <a:ext cx="193852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Data / conteúdo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9776" y="1901952"/>
            <a:ext cx="1938528" cy="438912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2020824"/>
            <a:ext cx="17922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Alcance / views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3168" y="1901952"/>
            <a:ext cx="1938528" cy="438912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2020824"/>
            <a:ext cx="17922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Interações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901952"/>
            <a:ext cx="1938528" cy="438912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020824"/>
            <a:ext cx="179222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Ações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59952" y="1901952"/>
            <a:ext cx="2916936" cy="438912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51392" y="2020824"/>
            <a:ext cx="27706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Aprendizado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478024"/>
            <a:ext cx="2084831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2606040"/>
            <a:ext cx="1938527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203941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79776" y="2478024"/>
            <a:ext cx="193852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606040"/>
            <a:ext cx="179222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203941"/>
                </a:solidFill>
                <a:latin typeface="DejaVu Sans"/>
              </a:defRPr>
            </a:pPr>
            <a:r>
              <a:t>Visualizações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73168" y="2478024"/>
            <a:ext cx="193852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2606040"/>
            <a:ext cx="179222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203941"/>
                </a:solidFill>
                <a:latin typeface="DejaVu Sans"/>
              </a:defRPr>
            </a:pPr>
            <a:r>
              <a:t>Respostas / votos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2478024"/>
            <a:ext cx="193852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606040"/>
            <a:ext cx="179222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203941"/>
                </a:solidFill>
                <a:latin typeface="DejaVu Sans"/>
              </a:defRPr>
            </a:pPr>
            <a:r>
              <a:t>Cliques no link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59952" y="2478024"/>
            <a:ext cx="2916936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1392" y="2606040"/>
            <a:ext cx="277063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203941"/>
                </a:solidFill>
                <a:latin typeface="DejaVu Sans"/>
              </a:defRPr>
            </a:pPr>
            <a:r>
              <a:t>Qual assunto gerou perguntas?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191256"/>
            <a:ext cx="2084831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19" y="3319272"/>
            <a:ext cx="1938527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203941"/>
                </a:solidFill>
                <a:latin typeface="DejaVu Sans"/>
              </a:defRPr>
            </a:pPr>
            <a:r>
              <a:t>Reels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9776" y="3191256"/>
            <a:ext cx="193852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71216" y="3319272"/>
            <a:ext cx="179222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203941"/>
                </a:solidFill>
                <a:latin typeface="DejaVu Sans"/>
              </a:defRPr>
            </a:pPr>
            <a:r>
              <a:t>Visualizações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73168" y="3191256"/>
            <a:ext cx="193852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64608" y="3319272"/>
            <a:ext cx="179222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203941"/>
                </a:solidFill>
                <a:latin typeface="DejaVu Sans"/>
              </a:defRPr>
            </a:pPr>
            <a:r>
              <a:t>Interações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0" y="3191256"/>
            <a:ext cx="193852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3319272"/>
            <a:ext cx="179222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203941"/>
                </a:solidFill>
                <a:latin typeface="DejaVu Sans"/>
              </a:defRPr>
            </a:pPr>
            <a:r>
              <a:t>Salvamentos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59952" y="3191256"/>
            <a:ext cx="2916936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51392" y="3319272"/>
            <a:ext cx="277063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203941"/>
                </a:solidFill>
                <a:latin typeface="DejaVu Sans"/>
              </a:defRPr>
            </a:pPr>
            <a:r>
              <a:t>Como foi a retenção?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3904487"/>
            <a:ext cx="2084831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19" y="4032503"/>
            <a:ext cx="1938527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203941"/>
                </a:solidFill>
                <a:latin typeface="DejaVu Sans"/>
              </a:defRPr>
            </a:pPr>
            <a:r>
              <a:t>Carrosséis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79776" y="3904487"/>
            <a:ext cx="193852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71216" y="4032503"/>
            <a:ext cx="179222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203941"/>
                </a:solidFill>
                <a:latin typeface="DejaVu Sans"/>
              </a:defRPr>
            </a:pPr>
            <a:r>
              <a:t>Alcance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73168" y="3904487"/>
            <a:ext cx="193852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64608" y="4032503"/>
            <a:ext cx="179222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203941"/>
                </a:solidFill>
                <a:latin typeface="DejaVu Sans"/>
              </a:defRPr>
            </a:pPr>
            <a:r>
              <a:t>Interações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66560" y="3904487"/>
            <a:ext cx="193852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4032503"/>
            <a:ext cx="179222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203941"/>
                </a:solidFill>
                <a:latin typeface="DejaVu Sans"/>
              </a:defRPr>
            </a:pPr>
            <a:r>
              <a:t>Salvos / compartilhados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59952" y="3904487"/>
            <a:ext cx="2916936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51392" y="4032503"/>
            <a:ext cx="277063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203941"/>
                </a:solidFill>
                <a:latin typeface="DejaVu Sans"/>
              </a:defRPr>
            </a:pPr>
            <a:r>
              <a:t>O conteúdo ajudou alguém a agir?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4919472"/>
            <a:ext cx="10863072" cy="621792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084064"/>
            <a:ext cx="10469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No fechamento: reunir dúvidas, conteúdos mais úteis e preferência da enquete para planejar dezembro.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Próximos passos: começar com o básico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A primeira semana fica mais fácil quando os materiais e as responsabilidades estão combinados.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01952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43100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88823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Definir os responsáveis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212848"/>
            <a:ext cx="594360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Quem capta, quem edita, quem aprova e quem responde.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34640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875788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82092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Reunir os dados oficiais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45536"/>
            <a:ext cx="594360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Logo, identidade, endereço, horários, site e WhatsApp.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67328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808476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7536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Combinar a captação da loja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78224"/>
            <a:ext cx="594360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Entrada, visão geral e três closes. Confirmar abertura em 02/11.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00016"/>
            <a:ext cx="384048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741164"/>
            <a:ext cx="23774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46863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Preparar a primeira sequência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5010912"/>
            <a:ext cx="594360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Três Stories para publicar em 03/11 e guardar em “A loja”.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2127" y="1920240"/>
            <a:ext cx="3639312" cy="3630168"/>
          </a:xfrm>
          <a:prstGeom prst="roundRect">
            <a:avLst>
              <a:gd name="adj" fmla="val 12000"/>
            </a:avLst>
          </a:prstGeom>
          <a:solidFill>
            <a:srgbClr val="163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47304" y="2249424"/>
            <a:ext cx="31089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Consistência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com um plano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possível.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3995928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13 publicações.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Produção organizada.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FFFFFF"/>
                </a:solidFill>
                <a:latin typeface="DejaVu Sans"/>
              </a:defRPr>
            </a:pPr>
            <a:r>
              <a:t>Um próximo passo por conteúdo.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Antes de transformar este guia em peças públicas, aplicar a identidade oficial da Central e preencher os campos.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Suplementos — Plano de Conteúdo de Novembro de 2026</dc:title>
  <dc:subject>Calendário de 30 dias e execução passo a passo das 13 publicações</dc:subject>
  <dc:creator>Central Suplementos — planejamento de conteúdo</dc:creator>
  <cp:keywords>Central Suplementos, Instagram, novembro 2026, calendário, passo a passo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